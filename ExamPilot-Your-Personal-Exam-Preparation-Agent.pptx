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IBM Plex Sans" panose="020B0503050203000203" pitchFamily="34" charset="0"/>
      <p:regular r:id="rId17"/>
    </p:embeddedFont>
    <p:embeddedFont>
      <p:font typeface="IBM Plex Sans Bold" panose="020B0604020202020204" charset="0"/>
      <p:regular r:id="rId18"/>
    </p:embeddedFont>
    <p:embeddedFont>
      <p:font typeface="Sora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C35"/>
    <a:srgbClr val="F2F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7310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Exam season shouldn't start with figuring out your own exam schedule. MentalPlanner turns a campus timetable and course material into a personal preparation agent. We are building for your campus, using Gemma 4 and open-source AI.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Open with the relatable pain. Students start with a dense, multi-page PDF and then stitch together Classroom, slides, and web materials. Each student's reality is different because every course mix is different, yet the campus gives everyone one generic PDF. That creates late clashes and unanswered midnight doubts.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Be explicit about the boundary. The demo is scoped to BTech CSE, Semester III, using a real timetable and Course of Study. The secondary users are the people who support that workflow. Even though we demonstrate one branch, the architecture is branch-agnostic.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Walk the flow left to right in about thirty seconds. Students choose their actual course mix, receive a timetable with alerts, mark the syllabus scope, generate a day-by-day plan, and then ask course-aware doubts. The date logic stays deterministic; Gemma 4 handles understanding and reasoning.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Stress the architecture choice. The frontend, gateway, backend, data layer, parsing, and integrations are all replaceable components, with open-source choices throughout. Gemma 4 sits behind one configurable llm.py wrapper, so swapping the model is a one-line config change.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Explain the pipeline from messy PDF to structured data. Word positions recover timetable structure, with Gemma 4 as the page-wise fallback. Course headers are found with regex, then topics are decomposed. Alias matching is important: any slash-separated code can match the student's course. Everything is parsed once offline, then retries and Pydantic validation protect the demo.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Emphasize the boundary: the LLM never does date math, as stated in the README. Plain Python owns aliases, clashes, dates, hours, and buffers. Gemma 4 reasons over topic difficulty, plans, materials, and coverage gaps. JSON is verified in code, and the RAG chatbot answers with citations from course materials.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Slow down for the Gemma 4 and Open Source judges. Gemma 4 is used at every intelligent step, but with strict structure around it: schemas, validation, retries, grounded retrieval, and documented tools. Open models protect student privacy, avoid lock-in, run on campus, and stay reproducible.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Cover both types of growth. The user base expands from CSE Semester III to all branches, then to other universities through pluggable timetable and syllabus inputs. Feature growth adds Classroom sync, uploads, coverage tables, dashboards, mobile, notifications, adaptive re-planning, and finally self-hosted Gemma on campus infrastructure.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End with an invitation to the live demo. MentalPlanner gives every student a personal timetable, a smart plan, and cited answers, powered by Gemma 4. Point judges to the repository and demo, then close on the MIT License, README, and SKILL.md.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2F4ED"/>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83C35"/>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6908627" cy="6870402"/>
          </a:xfrm>
          <a:prstGeom prst="rect">
            <a:avLst/>
          </a:prstGeom>
          <a:solidFill>
            <a:srgbClr val="083C35"/>
          </a:solidFill>
          <a:ln/>
        </p:spPr>
        <p:txBody>
          <a:bodyPr/>
          <a:lstStyle/>
          <a:p>
            <a:endParaRPr lang="en-IN"/>
          </a:p>
        </p:txBody>
      </p:sp>
      <p:sp>
        <p:nvSpPr>
          <p:cNvPr id="3" name="Text 1"/>
          <p:cNvSpPr/>
          <p:nvPr/>
        </p:nvSpPr>
        <p:spPr>
          <a:xfrm>
            <a:off x="609585" y="593280"/>
            <a:ext cx="6299042"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BUILD FOR YOUR CAMPUS</a:t>
            </a:r>
            <a:endParaRPr lang="en-US" sz="1100" dirty="0"/>
          </a:p>
        </p:txBody>
      </p:sp>
      <p:sp>
        <p:nvSpPr>
          <p:cNvPr id="4" name="Text 2"/>
          <p:cNvSpPr/>
          <p:nvPr/>
        </p:nvSpPr>
        <p:spPr>
          <a:xfrm>
            <a:off x="609585" y="1046262"/>
            <a:ext cx="5816454" cy="3556000"/>
          </a:xfrm>
          <a:prstGeom prst="rect">
            <a:avLst/>
          </a:prstGeom>
          <a:noFill/>
          <a:ln/>
        </p:spPr>
        <p:txBody>
          <a:bodyPr wrap="square" lIns="0" tIns="0" rIns="0" bIns="0" rtlCol="0" anchor="t">
            <a:normAutofit lnSpcReduction="10000"/>
          </a:bodyPr>
          <a:lstStyle/>
          <a:p>
            <a:pPr marL="0" indent="0" algn="l">
              <a:lnSpc>
                <a:spcPct val="83000"/>
              </a:lnSpc>
              <a:buNone/>
            </a:pPr>
            <a:r>
              <a:rPr lang="en-US" sz="5600" b="1" kern="100" spc="-140" dirty="0">
                <a:solidFill>
                  <a:srgbClr val="FFFFFF"/>
                </a:solidFill>
                <a:latin typeface="Sora Bold" pitchFamily="34" charset="0"/>
                <a:ea typeface="Sora Bold" pitchFamily="34" charset="-122"/>
                <a:cs typeface="Sora Bold" pitchFamily="34" charset="-120"/>
              </a:rPr>
              <a:t>MentalPlanner:</a:t>
            </a:r>
            <a:endParaRPr lang="en-US" sz="5600" dirty="0"/>
          </a:p>
          <a:p>
            <a:pPr marL="0" indent="0" algn="l">
              <a:lnSpc>
                <a:spcPct val="83000"/>
              </a:lnSpc>
              <a:buNone/>
            </a:pPr>
            <a:r>
              <a:rPr lang="en-US" sz="5600" b="1" kern="100" spc="-140" dirty="0">
                <a:solidFill>
                  <a:srgbClr val="FFFFFF"/>
                </a:solidFill>
                <a:latin typeface="Sora Bold" pitchFamily="34" charset="0"/>
                <a:ea typeface="Sora Bold" pitchFamily="34" charset="-122"/>
                <a:cs typeface="Sora Bold" pitchFamily="34" charset="-120"/>
              </a:rPr>
              <a:t>Your Personal</a:t>
            </a:r>
            <a:endParaRPr lang="en-US" sz="5600" dirty="0"/>
          </a:p>
          <a:p>
            <a:pPr marL="0" indent="0" algn="l">
              <a:lnSpc>
                <a:spcPct val="83000"/>
              </a:lnSpc>
              <a:buNone/>
            </a:pPr>
            <a:r>
              <a:rPr lang="en-US" sz="5600" b="1" kern="100" spc="-140" dirty="0">
                <a:solidFill>
                  <a:srgbClr val="FFFFFF"/>
                </a:solidFill>
                <a:latin typeface="Sora Bold" pitchFamily="34" charset="0"/>
                <a:ea typeface="Sora Bold" pitchFamily="34" charset="-122"/>
                <a:cs typeface="Sora Bold" pitchFamily="34" charset="-120"/>
              </a:rPr>
              <a:t>Exam Preparation Agent</a:t>
            </a:r>
            <a:endParaRPr lang="en-US" sz="5600" dirty="0"/>
          </a:p>
        </p:txBody>
      </p:sp>
      <p:sp>
        <p:nvSpPr>
          <p:cNvPr id="5" name="Text 3"/>
          <p:cNvSpPr/>
          <p:nvPr/>
        </p:nvSpPr>
        <p:spPr>
          <a:xfrm>
            <a:off x="609585" y="4780824"/>
            <a:ext cx="5816454" cy="603448"/>
          </a:xfrm>
          <a:prstGeom prst="rect">
            <a:avLst/>
          </a:prstGeom>
          <a:noFill/>
          <a:ln/>
        </p:spPr>
        <p:txBody>
          <a:bodyPr wrap="square" lIns="0" tIns="0" rIns="0" bIns="0" rtlCol="0" anchor="t">
            <a:normAutofit/>
          </a:bodyPr>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120"/>
              </a:rPr>
              <a:t>Personalized timetable, study plan, curated materials, and doubt-clearing chatbot powered by Gemma 4</a:t>
            </a:r>
            <a:endParaRPr lang="en-US" sz="1800" dirty="0"/>
          </a:p>
        </p:txBody>
      </p:sp>
      <p:sp>
        <p:nvSpPr>
          <p:cNvPr id="6" name="Shape 4"/>
          <p:cNvSpPr/>
          <p:nvPr/>
        </p:nvSpPr>
        <p:spPr>
          <a:xfrm>
            <a:off x="609585" y="5602585"/>
            <a:ext cx="2832029" cy="423069"/>
          </a:xfrm>
          <a:prstGeom prst="rect">
            <a:avLst/>
          </a:prstGeom>
          <a:solidFill>
            <a:srgbClr val="0A7C78"/>
          </a:solidFill>
          <a:ln/>
        </p:spPr>
        <p:txBody>
          <a:bodyPr/>
          <a:lstStyle/>
          <a:p>
            <a:endParaRPr lang="en-IN"/>
          </a:p>
        </p:txBody>
      </p:sp>
      <p:sp>
        <p:nvSpPr>
          <p:cNvPr id="7" name="Text 5"/>
          <p:cNvSpPr/>
          <p:nvPr/>
        </p:nvSpPr>
        <p:spPr>
          <a:xfrm>
            <a:off x="761981" y="5696819"/>
            <a:ext cx="2679633" cy="245269"/>
          </a:xfrm>
          <a:prstGeom prst="rect">
            <a:avLst/>
          </a:prstGeom>
          <a:noFill/>
          <a:ln/>
        </p:spPr>
        <p:txBody>
          <a:bodyPr wrap="none" lIns="0" tIns="0" rIns="0" bIns="0" rtlCol="0" anchor="t"/>
          <a:lstStyle/>
          <a:p>
            <a:pPr marL="0" indent="0" algn="l">
              <a:lnSpc>
                <a:spcPct val="115000"/>
              </a:lnSpc>
              <a:buNone/>
            </a:pPr>
            <a:r>
              <a:rPr lang="en-US" sz="1400" b="1" dirty="0">
                <a:solidFill>
                  <a:srgbClr val="FFFFFF"/>
                </a:solidFill>
                <a:latin typeface="IBM Plex Sans Bold" pitchFamily="34" charset="0"/>
                <a:ea typeface="IBM Plex Sans Bold" pitchFamily="34" charset="-122"/>
                <a:cs typeface="IBM Plex Sans Bold" pitchFamily="34" charset="-120"/>
              </a:rPr>
              <a:t>Build for Your Campus</a:t>
            </a:r>
            <a:endParaRPr lang="en-US" sz="1400" dirty="0"/>
          </a:p>
        </p:txBody>
      </p:sp>
      <p:sp>
        <p:nvSpPr>
          <p:cNvPr id="8" name="Shape 6"/>
          <p:cNvSpPr/>
          <p:nvPr/>
        </p:nvSpPr>
        <p:spPr>
          <a:xfrm>
            <a:off x="3594010" y="5602585"/>
            <a:ext cx="2832029" cy="423069"/>
          </a:xfrm>
          <a:prstGeom prst="rect">
            <a:avLst/>
          </a:prstGeom>
          <a:solidFill>
            <a:srgbClr val="083C35"/>
          </a:solidFill>
          <a:ln/>
        </p:spPr>
        <p:txBody>
          <a:bodyPr/>
          <a:lstStyle/>
          <a:p>
            <a:endParaRPr lang="en-IN"/>
          </a:p>
        </p:txBody>
      </p:sp>
      <p:sp>
        <p:nvSpPr>
          <p:cNvPr id="9" name="Text 7"/>
          <p:cNvSpPr/>
          <p:nvPr/>
        </p:nvSpPr>
        <p:spPr>
          <a:xfrm>
            <a:off x="3746406" y="5696819"/>
            <a:ext cx="2679633" cy="245269"/>
          </a:xfrm>
          <a:prstGeom prst="rect">
            <a:avLst/>
          </a:prstGeom>
          <a:noFill/>
          <a:ln/>
        </p:spPr>
        <p:txBody>
          <a:bodyPr wrap="none" lIns="0" tIns="0" rIns="0" bIns="0" rtlCol="0" anchor="t"/>
          <a:lstStyle/>
          <a:p>
            <a:pPr marL="0" indent="0" algn="l">
              <a:lnSpc>
                <a:spcPct val="115000"/>
              </a:lnSpc>
              <a:buNone/>
            </a:pPr>
            <a:r>
              <a:rPr lang="en-US" sz="1400" b="1" dirty="0">
                <a:solidFill>
                  <a:srgbClr val="FFFFFF"/>
                </a:solidFill>
                <a:latin typeface="IBM Plex Sans Bold" pitchFamily="34" charset="0"/>
                <a:ea typeface="IBM Plex Sans Bold" pitchFamily="34" charset="-122"/>
                <a:cs typeface="IBM Plex Sans Bold" pitchFamily="34" charset="-120"/>
              </a:rPr>
              <a:t>MLH: Best Use of Gemma 4</a:t>
            </a:r>
            <a:endParaRPr lang="en-US" sz="1400" dirty="0"/>
          </a:p>
        </p:txBody>
      </p:sp>
      <p:sp>
        <p:nvSpPr>
          <p:cNvPr id="10" name="Text 8"/>
          <p:cNvSpPr/>
          <p:nvPr/>
        </p:nvSpPr>
        <p:spPr>
          <a:xfrm>
            <a:off x="609585" y="6260540"/>
            <a:ext cx="6299042" cy="184348"/>
          </a:xfrm>
          <a:prstGeom prst="rect">
            <a:avLst/>
          </a:prstGeom>
          <a:noFill/>
          <a:ln/>
        </p:spPr>
        <p:txBody>
          <a:bodyPr wrap="none" lIns="0" tIns="0" rIns="0" bIns="0" rtlCol="0" anchor="t"/>
          <a:lstStyle/>
          <a:p>
            <a:pPr marL="0" indent="0" algn="l">
              <a:lnSpc>
                <a:spcPct val="110000"/>
              </a:lnSpc>
              <a:buNone/>
            </a:pPr>
            <a:r>
              <a:rPr lang="en-US" sz="1100" dirty="0">
                <a:solidFill>
                  <a:srgbClr val="FFFFFF"/>
                </a:solidFill>
                <a:latin typeface="IBM Plex Sans" pitchFamily="34" charset="0"/>
                <a:ea typeface="IBM Plex Sans" pitchFamily="34" charset="-122"/>
                <a:cs typeface="IBM Plex Sans" pitchFamily="34" charset="-120"/>
              </a:rPr>
              <a:t>MLH: Best Open Source AI Project · Team: Mentals · Kanad - Aditya - Rahul - Ishwar - Shlok</a:t>
            </a:r>
            <a:endParaRPr lang="en-US" sz="1100" dirty="0"/>
          </a:p>
        </p:txBody>
      </p:sp>
      <p:sp>
        <p:nvSpPr>
          <p:cNvPr id="11" name="Shape 9"/>
          <p:cNvSpPr/>
          <p:nvPr/>
        </p:nvSpPr>
        <p:spPr>
          <a:xfrm>
            <a:off x="6908627" y="0"/>
            <a:ext cx="5283068" cy="6870402"/>
          </a:xfrm>
          <a:prstGeom prst="rect">
            <a:avLst/>
          </a:prstGeom>
          <a:solidFill>
            <a:srgbClr val="F2F4ED"/>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6908627" y="0"/>
            <a:ext cx="5283068" cy="68704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PROBLEM</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Exam prep on campus is fragmented and manual</a:t>
            </a:r>
            <a:endParaRPr lang="en-US" sz="3400" dirty="0"/>
          </a:p>
        </p:txBody>
      </p:sp>
      <p:pic>
        <p:nvPicPr>
          <p:cNvPr id="4" name="Image 0" descr="preencoded.png"/>
          <p:cNvPicPr>
            <a:picLocks noChangeAspect="1"/>
          </p:cNvPicPr>
          <p:nvPr/>
        </p:nvPicPr>
        <p:blipFill>
          <a:blip r:embed="rId3"/>
          <a:stretch>
            <a:fillRect/>
          </a:stretch>
        </p:blipFill>
        <p:spPr>
          <a:xfrm>
            <a:off x="457189" y="1443633"/>
            <a:ext cx="539736" cy="539750"/>
          </a:xfrm>
          <a:prstGeom prst="rect">
            <a:avLst/>
          </a:prstGeom>
        </p:spPr>
      </p:pic>
      <p:sp>
        <p:nvSpPr>
          <p:cNvPr id="5" name="Text 2"/>
          <p:cNvSpPr/>
          <p:nvPr/>
        </p:nvSpPr>
        <p:spPr>
          <a:xfrm>
            <a:off x="457189" y="2142895"/>
            <a:ext cx="3139302"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One dense PDF</a:t>
            </a:r>
            <a:endParaRPr lang="en-US" sz="1800" dirty="0"/>
          </a:p>
        </p:txBody>
      </p:sp>
      <p:sp>
        <p:nvSpPr>
          <p:cNvPr id="6" name="Text 3"/>
          <p:cNvSpPr/>
          <p:nvPr/>
        </p:nvSpPr>
        <p:spPr>
          <a:xfrm>
            <a:off x="457189" y="2624959"/>
            <a:ext cx="3139302"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180+ page Course of Study; materials scattered across Classroom, slides, and web.</a:t>
            </a:r>
            <a:endParaRPr lang="en-US" sz="1700" dirty="0"/>
          </a:p>
        </p:txBody>
      </p:sp>
      <p:pic>
        <p:nvPicPr>
          <p:cNvPr id="7" name="Image 1" descr="preencoded.png"/>
          <p:cNvPicPr>
            <a:picLocks noChangeAspect="1"/>
          </p:cNvPicPr>
          <p:nvPr/>
        </p:nvPicPr>
        <p:blipFill>
          <a:blip r:embed="rId4"/>
          <a:stretch>
            <a:fillRect/>
          </a:stretch>
        </p:blipFill>
        <p:spPr>
          <a:xfrm>
            <a:off x="3901283" y="1443633"/>
            <a:ext cx="539736" cy="539750"/>
          </a:xfrm>
          <a:prstGeom prst="rect">
            <a:avLst/>
          </a:prstGeom>
        </p:spPr>
      </p:pic>
      <p:sp>
        <p:nvSpPr>
          <p:cNvPr id="8" name="Text 4"/>
          <p:cNvSpPr/>
          <p:nvPr/>
        </p:nvSpPr>
        <p:spPr>
          <a:xfrm>
            <a:off x="3901283" y="2142895"/>
            <a:ext cx="3139401"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Every schedule differs</a:t>
            </a:r>
            <a:endParaRPr lang="en-US" sz="1800" dirty="0"/>
          </a:p>
        </p:txBody>
      </p:sp>
      <p:sp>
        <p:nvSpPr>
          <p:cNvPr id="9" name="Text 5"/>
          <p:cNvSpPr/>
          <p:nvPr/>
        </p:nvSpPr>
        <p:spPr>
          <a:xfrm>
            <a:off x="3901283" y="2624959"/>
            <a:ext cx="3139401"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Every student has a different course mix, so schedules are never alike.</a:t>
            </a:r>
            <a:endParaRPr lang="en-US" sz="1700" dirty="0"/>
          </a:p>
        </p:txBody>
      </p:sp>
      <p:sp>
        <p:nvSpPr>
          <p:cNvPr id="10" name="Shape 6"/>
          <p:cNvSpPr/>
          <p:nvPr/>
        </p:nvSpPr>
        <p:spPr>
          <a:xfrm>
            <a:off x="457189" y="3661271"/>
            <a:ext cx="6583495" cy="1052909"/>
          </a:xfrm>
          <a:prstGeom prst="roundRect">
            <a:avLst>
              <a:gd name="adj" fmla="val 8612"/>
            </a:avLst>
          </a:prstGeom>
          <a:solidFill>
            <a:srgbClr val="E5E9DA"/>
          </a:solidFill>
          <a:ln/>
        </p:spPr>
        <p:txBody>
          <a:bodyPr/>
          <a:lstStyle/>
          <a:p>
            <a:endParaRPr lang="en-IN"/>
          </a:p>
        </p:txBody>
      </p:sp>
      <p:sp>
        <p:nvSpPr>
          <p:cNvPr id="11" name="Text 7"/>
          <p:cNvSpPr/>
          <p:nvPr/>
        </p:nvSpPr>
        <p:spPr>
          <a:xfrm>
            <a:off x="685783" y="3896348"/>
            <a:ext cx="6126307" cy="595709"/>
          </a:xfrm>
          <a:prstGeom prst="rect">
            <a:avLst/>
          </a:prstGeom>
          <a:noFill/>
          <a:ln/>
        </p:spPr>
        <p:txBody>
          <a:bodyPr wrap="square" lIns="0" tIns="0" rIns="0" bIns="0" rtlCol="0" anchor="t">
            <a:normAutofit/>
          </a:bodyPr>
          <a:lstStyle/>
          <a:p>
            <a:pPr marL="0" indent="0" algn="l">
              <a:lnSpc>
                <a:spcPct val="115000"/>
              </a:lnSpc>
              <a:buNone/>
            </a:pPr>
            <a:r>
              <a:rPr lang="en-US" sz="1700" b="1" dirty="0">
                <a:solidFill>
                  <a:srgbClr val="10201D"/>
                </a:solidFill>
                <a:latin typeface="IBM Plex Sans Bold" pitchFamily="34" charset="0"/>
                <a:ea typeface="IBM Plex Sans Bold" pitchFamily="34" charset="-122"/>
                <a:cs typeface="IBM Plex Sans Bold" pitchFamily="34" charset="-120"/>
              </a:rPr>
              <a:t>Dense multi-page PDF:</a:t>
            </a:r>
            <a:r>
              <a:rPr lang="en-US" sz="1700" dirty="0">
                <a:solidFill>
                  <a:srgbClr val="10201D"/>
                </a:solidFill>
                <a:latin typeface="IBM Plex Sans" pitchFamily="34" charset="0"/>
                <a:ea typeface="IBM Plex Sans" pitchFamily="34" charset="-122"/>
                <a:cs typeface="IBM Plex Sans" pitchFamily="34" charset="-120"/>
              </a:rPr>
              <a:t> merged and cross-listed codes, such as CSL201/MAL503.</a:t>
            </a:r>
            <a:endParaRPr lang="en-US" sz="1700" dirty="0"/>
          </a:p>
        </p:txBody>
      </p:sp>
      <p:sp>
        <p:nvSpPr>
          <p:cNvPr id="12" name="Shape 8"/>
          <p:cNvSpPr/>
          <p:nvPr/>
        </p:nvSpPr>
        <p:spPr>
          <a:xfrm>
            <a:off x="457189" y="4866580"/>
            <a:ext cx="6583495" cy="1052909"/>
          </a:xfrm>
          <a:prstGeom prst="roundRect">
            <a:avLst>
              <a:gd name="adj" fmla="val 8612"/>
            </a:avLst>
          </a:prstGeom>
          <a:solidFill>
            <a:srgbClr val="E5E9DA"/>
          </a:solidFill>
          <a:ln/>
        </p:spPr>
        <p:txBody>
          <a:bodyPr/>
          <a:lstStyle/>
          <a:p>
            <a:endParaRPr lang="en-IN"/>
          </a:p>
        </p:txBody>
      </p:sp>
      <p:sp>
        <p:nvSpPr>
          <p:cNvPr id="13" name="Text 9"/>
          <p:cNvSpPr/>
          <p:nvPr/>
        </p:nvSpPr>
        <p:spPr>
          <a:xfrm>
            <a:off x="685783" y="5101657"/>
            <a:ext cx="6126307" cy="595709"/>
          </a:xfrm>
          <a:prstGeom prst="rect">
            <a:avLst/>
          </a:prstGeom>
          <a:noFill/>
          <a:ln/>
        </p:spPr>
        <p:txBody>
          <a:bodyPr wrap="square" lIns="0" tIns="0" rIns="0" bIns="0" rtlCol="0" anchor="t">
            <a:normAutofit/>
          </a:bodyPr>
          <a:lstStyle/>
          <a:p>
            <a:pPr marL="0" indent="0" algn="l">
              <a:lnSpc>
                <a:spcPct val="115000"/>
              </a:lnSpc>
              <a:buNone/>
            </a:pPr>
            <a:r>
              <a:rPr lang="en-US" sz="1700" b="1" dirty="0">
                <a:solidFill>
                  <a:srgbClr val="10201D"/>
                </a:solidFill>
                <a:latin typeface="IBM Plex Sans Bold" pitchFamily="34" charset="0"/>
                <a:ea typeface="IBM Plex Sans Bold" pitchFamily="34" charset="-122"/>
                <a:cs typeface="IBM Plex Sans Bold" pitchFamily="34" charset="-120"/>
              </a:rPr>
              <a:t>Manual consequences:</a:t>
            </a:r>
            <a:r>
              <a:rPr lang="en-US" sz="1700" dirty="0">
                <a:solidFill>
                  <a:srgbClr val="10201D"/>
                </a:solidFill>
                <a:latin typeface="IBM Plex Sans" pitchFamily="34" charset="0"/>
                <a:ea typeface="IBM Plex Sans" pitchFamily="34" charset="-122"/>
                <a:cs typeface="IBM Plex Sans" pitchFamily="34" charset="-120"/>
              </a:rPr>
              <a:t> no personalized plan, late clash discovery, and unanswered midnight doubts.</a:t>
            </a:r>
            <a:endParaRPr lang="en-US" sz="1700" dirty="0"/>
          </a:p>
        </p:txBody>
      </p:sp>
      <p:sp>
        <p:nvSpPr>
          <p:cNvPr id="14" name="Shape 10"/>
          <p:cNvSpPr/>
          <p:nvPr/>
        </p:nvSpPr>
        <p:spPr>
          <a:xfrm>
            <a:off x="7345377" y="1443633"/>
            <a:ext cx="4389129" cy="4544219"/>
          </a:xfrm>
          <a:prstGeom prst="rect">
            <a:avLst/>
          </a:prstGeom>
          <a:solidFill>
            <a:srgbClr val="083C35"/>
          </a:solidFill>
          <a:ln/>
        </p:spPr>
        <p:txBody>
          <a:bodyPr/>
          <a:lstStyle/>
          <a:p>
            <a:endParaRPr lang="en-IN"/>
          </a:p>
        </p:txBody>
      </p:sp>
      <p:sp>
        <p:nvSpPr>
          <p:cNvPr id="15" name="Text 11"/>
          <p:cNvSpPr/>
          <p:nvPr/>
        </p:nvSpPr>
        <p:spPr>
          <a:xfrm>
            <a:off x="7573971" y="2603750"/>
            <a:ext cx="4160535"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MID-SEMS</a:t>
            </a:r>
            <a:endParaRPr lang="en-US" sz="1100" dirty="0"/>
          </a:p>
        </p:txBody>
      </p:sp>
      <p:sp>
        <p:nvSpPr>
          <p:cNvPr id="16" name="Text 12"/>
          <p:cNvSpPr/>
          <p:nvPr/>
        </p:nvSpPr>
        <p:spPr>
          <a:xfrm>
            <a:off x="7573971" y="2920206"/>
            <a:ext cx="3931941" cy="1117600"/>
          </a:xfrm>
          <a:prstGeom prst="rect">
            <a:avLst/>
          </a:prstGeom>
          <a:noFill/>
          <a:ln/>
        </p:spPr>
        <p:txBody>
          <a:bodyPr wrap="square" lIns="0" tIns="0" rIns="0" bIns="0" rtlCol="0" anchor="t">
            <a:normAutofit lnSpcReduction="10000"/>
          </a:bodyPr>
          <a:lstStyle/>
          <a:p>
            <a:pPr marL="0" indent="0" algn="l">
              <a:lnSpc>
                <a:spcPct val="83000"/>
              </a:lnSpc>
              <a:buNone/>
            </a:pPr>
            <a:r>
              <a:rPr lang="en-US" sz="4400" b="1" kern="100" spc="-110" dirty="0">
                <a:solidFill>
                  <a:srgbClr val="FFFFFF"/>
                </a:solidFill>
                <a:latin typeface="Sora Bold" pitchFamily="34" charset="0"/>
                <a:ea typeface="Sora Bold" pitchFamily="34" charset="-122"/>
                <a:cs typeface="Sora Bold" pitchFamily="34" charset="-120"/>
              </a:rPr>
              <a:t>18–25 Sept</a:t>
            </a:r>
            <a:endParaRPr lang="en-US" sz="4400" dirty="0"/>
          </a:p>
          <a:p>
            <a:pPr marL="0" indent="0" algn="l">
              <a:lnSpc>
                <a:spcPct val="83000"/>
              </a:lnSpc>
              <a:buNone/>
            </a:pPr>
            <a:r>
              <a:rPr lang="en-US" sz="4400" b="1" kern="100" spc="-110" dirty="0">
                <a:solidFill>
                  <a:srgbClr val="FFFFFF"/>
                </a:solidFill>
                <a:latin typeface="Sora Bold" pitchFamily="34" charset="0"/>
                <a:ea typeface="Sora Bold" pitchFamily="34" charset="-122"/>
                <a:cs typeface="Sora Bold" pitchFamily="34" charset="-120"/>
              </a:rPr>
              <a:t>2026</a:t>
            </a:r>
            <a:endParaRPr lang="en-US" sz="4400" dirty="0"/>
          </a:p>
        </p:txBody>
      </p:sp>
      <p:sp>
        <p:nvSpPr>
          <p:cNvPr id="17" name="Text 13"/>
          <p:cNvSpPr/>
          <p:nvPr/>
        </p:nvSpPr>
        <p:spPr>
          <a:xfrm>
            <a:off x="7573971" y="4247483"/>
            <a:ext cx="3931941"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Hundreds of students per slot.</a:t>
            </a:r>
            <a:endParaRPr lang="en-US" sz="1700" dirty="0"/>
          </a:p>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One generic PDF.</a:t>
            </a:r>
            <a:endParaRPr lang="en-US" sz="1700" dirty="0"/>
          </a:p>
        </p:txBody>
      </p:sp>
      <p:sp>
        <p:nvSpPr>
          <p:cNvPr id="18" name="Text 14"/>
          <p:cNvSpPr/>
          <p:nvPr/>
        </p:nvSpPr>
        <p:spPr>
          <a:xfrm>
            <a:off x="457189" y="6222738"/>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19" name="Rectangle 18">
            <a:extLst>
              <a:ext uri="{FF2B5EF4-FFF2-40B4-BE49-F238E27FC236}">
                <a16:creationId xmlns:a16="http://schemas.microsoft.com/office/drawing/2014/main" id="{FA6255E2-C7EE-44B3-FB7B-B0A71DB11CB1}"/>
              </a:ext>
            </a:extLst>
          </p:cNvPr>
          <p:cNvSpPr/>
          <p:nvPr/>
        </p:nvSpPr>
        <p:spPr>
          <a:xfrm>
            <a:off x="11041811" y="6556075"/>
            <a:ext cx="1086929" cy="250089"/>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USERS</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Who we are building for</a:t>
            </a:r>
            <a:endParaRPr lang="en-US" sz="3400" dirty="0"/>
          </a:p>
        </p:txBody>
      </p:sp>
      <p:pic>
        <p:nvPicPr>
          <p:cNvPr id="4" name="Image 0" descr="preencoded.png"/>
          <p:cNvPicPr>
            <a:picLocks noChangeAspect="1"/>
          </p:cNvPicPr>
          <p:nvPr/>
        </p:nvPicPr>
        <p:blipFill>
          <a:blip r:embed="rId3"/>
          <a:stretch>
            <a:fillRect/>
          </a:stretch>
        </p:blipFill>
        <p:spPr>
          <a:xfrm>
            <a:off x="457189" y="2656483"/>
            <a:ext cx="4851080" cy="2220119"/>
          </a:xfrm>
          <a:prstGeom prst="rect">
            <a:avLst/>
          </a:prstGeom>
        </p:spPr>
      </p:pic>
      <p:sp>
        <p:nvSpPr>
          <p:cNvPr id="5" name="Text 2"/>
          <p:cNvSpPr/>
          <p:nvPr/>
        </p:nvSpPr>
        <p:spPr>
          <a:xfrm>
            <a:off x="4010182" y="3988722"/>
            <a:ext cx="1184453" cy="153669"/>
          </a:xfrm>
          <a:prstGeom prst="rect">
            <a:avLst/>
          </a:prstGeom>
          <a:noFill/>
          <a:ln/>
        </p:spPr>
        <p:txBody>
          <a:bodyPr wrap="none" lIns="0" tIns="0" rIns="0" bIns="0" rtlCol="0" anchor="t"/>
          <a:lstStyle/>
          <a:p>
            <a:pPr marL="0" indent="0" algn="l">
              <a:lnSpc>
                <a:spcPct val="110000"/>
              </a:lnSpc>
              <a:buNone/>
            </a:pPr>
            <a:r>
              <a:rPr lang="en-US" sz="900" b="1" kern="100" spc="-18" dirty="0">
                <a:solidFill>
                  <a:srgbClr val="10201D"/>
                </a:solidFill>
                <a:latin typeface="Sora Bold" pitchFamily="34" charset="0"/>
                <a:ea typeface="Sora Bold" pitchFamily="34" charset="-122"/>
                <a:cs typeface="Sora Bold" pitchFamily="34" charset="-120"/>
              </a:rPr>
              <a:t>Primary Users</a:t>
            </a:r>
            <a:endParaRPr lang="en-US" sz="900" dirty="0"/>
          </a:p>
        </p:txBody>
      </p:sp>
      <p:sp>
        <p:nvSpPr>
          <p:cNvPr id="6" name="Text 3"/>
          <p:cNvSpPr/>
          <p:nvPr/>
        </p:nvSpPr>
        <p:spPr>
          <a:xfrm>
            <a:off x="4010182" y="4193884"/>
            <a:ext cx="1184453" cy="236896"/>
          </a:xfrm>
          <a:prstGeom prst="rect">
            <a:avLst/>
          </a:prstGeom>
          <a:noFill/>
          <a:ln/>
        </p:spPr>
        <p:txBody>
          <a:bodyPr wrap="square" lIns="0" tIns="0" rIns="0" bIns="0" rtlCol="0" anchor="t">
            <a:normAutofit lnSpcReduction="10000"/>
          </a:bodyPr>
          <a:lstStyle/>
          <a:p>
            <a:pPr marL="0" indent="0" algn="l">
              <a:lnSpc>
                <a:spcPct val="115000"/>
              </a:lnSpc>
              <a:buNone/>
            </a:pPr>
            <a:r>
              <a:rPr lang="en-US" sz="700" dirty="0">
                <a:solidFill>
                  <a:srgbClr val="10201D"/>
                </a:solidFill>
                <a:latin typeface="IBM Plex Sans" pitchFamily="34" charset="0"/>
                <a:ea typeface="IBM Plex Sans" pitchFamily="34" charset="-122"/>
                <a:cs typeface="IBM Plex Sans" pitchFamily="34" charset="-120"/>
              </a:rPr>
              <a:t>BTech students — CSE Semester III (demo scope)</a:t>
            </a:r>
            <a:endParaRPr lang="en-US" sz="700" dirty="0"/>
          </a:p>
        </p:txBody>
      </p:sp>
      <p:sp>
        <p:nvSpPr>
          <p:cNvPr id="7" name="Text 4"/>
          <p:cNvSpPr/>
          <p:nvPr/>
        </p:nvSpPr>
        <p:spPr>
          <a:xfrm>
            <a:off x="570822" y="3615186"/>
            <a:ext cx="1087433" cy="153669"/>
          </a:xfrm>
          <a:prstGeom prst="rect">
            <a:avLst/>
          </a:prstGeom>
          <a:noFill/>
          <a:ln/>
        </p:spPr>
        <p:txBody>
          <a:bodyPr wrap="none" lIns="0" tIns="0" rIns="0" bIns="0" rtlCol="0" anchor="t"/>
          <a:lstStyle/>
          <a:p>
            <a:pPr marL="0" indent="0" algn="r">
              <a:lnSpc>
                <a:spcPct val="110000"/>
              </a:lnSpc>
              <a:buNone/>
            </a:pPr>
            <a:r>
              <a:rPr lang="en-US" sz="900" b="1" kern="100" spc="-18" dirty="0">
                <a:solidFill>
                  <a:srgbClr val="10201D"/>
                </a:solidFill>
                <a:latin typeface="Sora Bold" pitchFamily="34" charset="0"/>
                <a:ea typeface="Sora Bold" pitchFamily="34" charset="-122"/>
                <a:cs typeface="Sora Bold" pitchFamily="34" charset="-120"/>
              </a:rPr>
              <a:t>Secondary Users</a:t>
            </a:r>
            <a:endParaRPr lang="en-US" sz="900" dirty="0"/>
          </a:p>
        </p:txBody>
      </p:sp>
      <p:sp>
        <p:nvSpPr>
          <p:cNvPr id="8" name="Text 5"/>
          <p:cNvSpPr/>
          <p:nvPr/>
        </p:nvSpPr>
        <p:spPr>
          <a:xfrm>
            <a:off x="570822" y="3820348"/>
            <a:ext cx="1087433" cy="236896"/>
          </a:xfrm>
          <a:prstGeom prst="rect">
            <a:avLst/>
          </a:prstGeom>
          <a:noFill/>
          <a:ln/>
        </p:spPr>
        <p:txBody>
          <a:bodyPr wrap="square" lIns="0" tIns="0" rIns="0" bIns="0" rtlCol="0" anchor="t">
            <a:normAutofit lnSpcReduction="10000"/>
          </a:bodyPr>
          <a:lstStyle/>
          <a:p>
            <a:pPr marL="0" indent="0" algn="r">
              <a:lnSpc>
                <a:spcPct val="115000"/>
              </a:lnSpc>
              <a:buNone/>
            </a:pPr>
            <a:r>
              <a:rPr lang="en-US" sz="700" dirty="0">
                <a:solidFill>
                  <a:srgbClr val="10201D"/>
                </a:solidFill>
                <a:latin typeface="IBM Plex Sans" pitchFamily="34" charset="0"/>
                <a:ea typeface="IBM Plex Sans" pitchFamily="34" charset="-122"/>
                <a:cs typeface="IBM Plex Sans" pitchFamily="34" charset="-120"/>
              </a:rPr>
              <a:t>Faculty, academic offices, mentors, student bodies</a:t>
            </a:r>
            <a:endParaRPr lang="en-US" sz="700" dirty="0"/>
          </a:p>
        </p:txBody>
      </p:sp>
      <p:sp>
        <p:nvSpPr>
          <p:cNvPr id="9" name="Text 6"/>
          <p:cNvSpPr/>
          <p:nvPr/>
        </p:nvSpPr>
        <p:spPr>
          <a:xfrm>
            <a:off x="4010182" y="2882666"/>
            <a:ext cx="1184453" cy="153669"/>
          </a:xfrm>
          <a:prstGeom prst="rect">
            <a:avLst/>
          </a:prstGeom>
          <a:noFill/>
          <a:ln/>
        </p:spPr>
        <p:txBody>
          <a:bodyPr wrap="none" lIns="0" tIns="0" rIns="0" bIns="0" rtlCol="0" anchor="t"/>
          <a:lstStyle/>
          <a:p>
            <a:pPr marL="0" indent="0" algn="l">
              <a:lnSpc>
                <a:spcPct val="110000"/>
              </a:lnSpc>
              <a:buNone/>
            </a:pPr>
            <a:r>
              <a:rPr lang="en-US" sz="900" b="1" kern="100" spc="-18" dirty="0">
                <a:solidFill>
                  <a:srgbClr val="10201D"/>
                </a:solidFill>
                <a:latin typeface="Sora Bold" pitchFamily="34" charset="0"/>
                <a:ea typeface="Sora Bold" pitchFamily="34" charset="-122"/>
                <a:cs typeface="Sora Bold" pitchFamily="34" charset="-120"/>
              </a:rPr>
              <a:t>Campus System</a:t>
            </a:r>
            <a:endParaRPr lang="en-US" sz="900" dirty="0"/>
          </a:p>
        </p:txBody>
      </p:sp>
      <p:sp>
        <p:nvSpPr>
          <p:cNvPr id="10" name="Text 7"/>
          <p:cNvSpPr/>
          <p:nvPr/>
        </p:nvSpPr>
        <p:spPr>
          <a:xfrm>
            <a:off x="4010182" y="3087829"/>
            <a:ext cx="1184453" cy="236896"/>
          </a:xfrm>
          <a:prstGeom prst="rect">
            <a:avLst/>
          </a:prstGeom>
          <a:noFill/>
          <a:ln/>
        </p:spPr>
        <p:txBody>
          <a:bodyPr wrap="square" lIns="0" tIns="0" rIns="0" bIns="0" rtlCol="0" anchor="t">
            <a:normAutofit lnSpcReduction="10000"/>
          </a:bodyPr>
          <a:lstStyle/>
          <a:p>
            <a:pPr marL="0" indent="0" algn="l">
              <a:lnSpc>
                <a:spcPct val="115000"/>
              </a:lnSpc>
              <a:buNone/>
            </a:pPr>
            <a:r>
              <a:rPr lang="en-US" sz="700" dirty="0">
                <a:solidFill>
                  <a:srgbClr val="10201D"/>
                </a:solidFill>
                <a:latin typeface="IBM Plex Sans" pitchFamily="34" charset="0"/>
                <a:ea typeface="IBM Plex Sans" pitchFamily="34" charset="-122"/>
                <a:cs typeface="IBM Plex Sans" pitchFamily="34" charset="-120"/>
              </a:rPr>
              <a:t>1000+ students and 40+ courses in Course of Study</a:t>
            </a:r>
            <a:endParaRPr lang="en-US" sz="700" dirty="0"/>
          </a:p>
        </p:txBody>
      </p:sp>
      <p:sp>
        <p:nvSpPr>
          <p:cNvPr id="11" name="Shape 8"/>
          <p:cNvSpPr/>
          <p:nvPr/>
        </p:nvSpPr>
        <p:spPr>
          <a:xfrm>
            <a:off x="5765358" y="1443633"/>
            <a:ext cx="5969148" cy="1554460"/>
          </a:xfrm>
          <a:prstGeom prst="rect">
            <a:avLst/>
          </a:prstGeom>
          <a:solidFill>
            <a:srgbClr val="FFFFFF"/>
          </a:solidFill>
          <a:ln/>
        </p:spPr>
        <p:txBody>
          <a:bodyPr/>
          <a:lstStyle/>
          <a:p>
            <a:endParaRPr lang="en-IN"/>
          </a:p>
        </p:txBody>
      </p:sp>
      <p:sp>
        <p:nvSpPr>
          <p:cNvPr id="12" name="Text 9"/>
          <p:cNvSpPr/>
          <p:nvPr/>
        </p:nvSpPr>
        <p:spPr>
          <a:xfrm>
            <a:off x="5968553" y="1605113"/>
            <a:ext cx="5765953"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10201D"/>
                </a:solidFill>
                <a:latin typeface="IBM Plex Sans SemiBold" pitchFamily="34" charset="0"/>
                <a:ea typeface="IBM Plex Sans SemiBold" pitchFamily="34" charset="-122"/>
                <a:cs typeface="IBM Plex Sans SemiBold" pitchFamily="34" charset="-120"/>
              </a:rPr>
              <a:t>CURRENT SCOPE</a:t>
            </a:r>
            <a:endParaRPr lang="en-US" sz="1100" dirty="0"/>
          </a:p>
        </p:txBody>
      </p:sp>
      <p:sp>
        <p:nvSpPr>
          <p:cNvPr id="13" name="Text 10"/>
          <p:cNvSpPr/>
          <p:nvPr/>
        </p:nvSpPr>
        <p:spPr>
          <a:xfrm>
            <a:off x="5968553" y="1924872"/>
            <a:ext cx="5562758"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Mid-semester exams · real timetable · Course of Study data</a:t>
            </a:r>
            <a:endParaRPr lang="en-US" sz="1700" dirty="0"/>
          </a:p>
        </p:txBody>
      </p:sp>
      <p:sp>
        <p:nvSpPr>
          <p:cNvPr id="14" name="Shape 11"/>
          <p:cNvSpPr/>
          <p:nvPr/>
        </p:nvSpPr>
        <p:spPr>
          <a:xfrm>
            <a:off x="5765358" y="3150493"/>
            <a:ext cx="5969148" cy="1554460"/>
          </a:xfrm>
          <a:prstGeom prst="rect">
            <a:avLst/>
          </a:prstGeom>
          <a:solidFill>
            <a:srgbClr val="0A7C78"/>
          </a:solidFill>
          <a:ln/>
        </p:spPr>
        <p:txBody>
          <a:bodyPr/>
          <a:lstStyle/>
          <a:p>
            <a:endParaRPr lang="en-IN"/>
          </a:p>
        </p:txBody>
      </p:sp>
      <p:sp>
        <p:nvSpPr>
          <p:cNvPr id="15" name="Text 12"/>
          <p:cNvSpPr/>
          <p:nvPr/>
        </p:nvSpPr>
        <p:spPr>
          <a:xfrm>
            <a:off x="5968553" y="3311973"/>
            <a:ext cx="5765953"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CAMPUS REACH</a:t>
            </a:r>
            <a:endParaRPr lang="en-US" sz="1100" dirty="0"/>
          </a:p>
        </p:txBody>
      </p:sp>
      <p:sp>
        <p:nvSpPr>
          <p:cNvPr id="16" name="Text 13"/>
          <p:cNvSpPr/>
          <p:nvPr/>
        </p:nvSpPr>
        <p:spPr>
          <a:xfrm>
            <a:off x="5968553" y="3631732"/>
            <a:ext cx="5562758"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1000+ students on campus · 40+ courses in the Course of Study</a:t>
            </a:r>
            <a:endParaRPr lang="en-US" sz="1700" dirty="0"/>
          </a:p>
        </p:txBody>
      </p:sp>
      <p:sp>
        <p:nvSpPr>
          <p:cNvPr id="17" name="Shape 14"/>
          <p:cNvSpPr/>
          <p:nvPr/>
        </p:nvSpPr>
        <p:spPr>
          <a:xfrm>
            <a:off x="5765358" y="4857353"/>
            <a:ext cx="5969148" cy="1232098"/>
          </a:xfrm>
          <a:prstGeom prst="roundRect">
            <a:avLst>
              <a:gd name="adj" fmla="val 7359"/>
            </a:avLst>
          </a:prstGeom>
          <a:solidFill>
            <a:srgbClr val="E5E9DA"/>
          </a:solidFill>
          <a:ln/>
        </p:spPr>
        <p:txBody>
          <a:bodyPr/>
          <a:lstStyle/>
          <a:p>
            <a:endParaRPr lang="en-IN"/>
          </a:p>
        </p:txBody>
      </p:sp>
      <p:sp>
        <p:nvSpPr>
          <p:cNvPr id="18" name="Text 15"/>
          <p:cNvSpPr/>
          <p:nvPr/>
        </p:nvSpPr>
        <p:spPr>
          <a:xfrm>
            <a:off x="5968553" y="5016230"/>
            <a:ext cx="5562758" cy="595709"/>
          </a:xfrm>
          <a:prstGeom prst="rect">
            <a:avLst/>
          </a:prstGeom>
          <a:noFill/>
          <a:ln/>
        </p:spPr>
        <p:txBody>
          <a:bodyPr wrap="square" lIns="0" tIns="0" rIns="0" bIns="0" rtlCol="0" anchor="t">
            <a:normAutofit/>
          </a:bodyPr>
          <a:lstStyle/>
          <a:p>
            <a:pPr marL="0" indent="0" algn="l">
              <a:lnSpc>
                <a:spcPct val="115000"/>
              </a:lnSpc>
              <a:buNone/>
            </a:pPr>
            <a:r>
              <a:rPr lang="en-US" sz="1700" b="1" dirty="0">
                <a:solidFill>
                  <a:srgbClr val="10201D"/>
                </a:solidFill>
                <a:latin typeface="IBM Plex Sans Bold" pitchFamily="34" charset="0"/>
                <a:ea typeface="IBM Plex Sans Bold" pitchFamily="34" charset="-122"/>
                <a:cs typeface="IBM Plex Sans Bold" pitchFamily="34" charset="-120"/>
              </a:rPr>
              <a:t>Architecture remains branch-agnostic beyond the demo.</a:t>
            </a:r>
            <a:endParaRPr lang="en-US" sz="1700" dirty="0"/>
          </a:p>
        </p:txBody>
      </p:sp>
      <p:sp>
        <p:nvSpPr>
          <p:cNvPr id="19" name="Text 16"/>
          <p:cNvSpPr/>
          <p:nvPr/>
        </p:nvSpPr>
        <p:spPr>
          <a:xfrm>
            <a:off x="457189" y="6222738"/>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20" name="Rectangle 19">
            <a:extLst>
              <a:ext uri="{FF2B5EF4-FFF2-40B4-BE49-F238E27FC236}">
                <a16:creationId xmlns:a16="http://schemas.microsoft.com/office/drawing/2014/main" id="{9227A659-4AF6-84A2-944A-B7E1F3B69606}"/>
              </a:ext>
            </a:extLst>
          </p:cNvPr>
          <p:cNvSpPr/>
          <p:nvPr/>
        </p:nvSpPr>
        <p:spPr>
          <a:xfrm>
            <a:off x="10990053" y="6504317"/>
            <a:ext cx="1130060" cy="301847"/>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PRODUCT FLOW</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One agent, from timetable to topic-wise plan</a:t>
            </a:r>
            <a:endParaRPr lang="en-US" sz="3400" dirty="0"/>
          </a:p>
        </p:txBody>
      </p:sp>
      <p:sp>
        <p:nvSpPr>
          <p:cNvPr id="4" name="Text 2"/>
          <p:cNvSpPr/>
          <p:nvPr/>
        </p:nvSpPr>
        <p:spPr>
          <a:xfrm>
            <a:off x="457189" y="14436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01</a:t>
            </a:r>
            <a:endParaRPr lang="en-US" sz="1700" dirty="0"/>
          </a:p>
        </p:txBody>
      </p:sp>
      <p:sp>
        <p:nvSpPr>
          <p:cNvPr id="5" name="Shape 3"/>
          <p:cNvSpPr/>
          <p:nvPr/>
        </p:nvSpPr>
        <p:spPr>
          <a:xfrm>
            <a:off x="457189" y="1745853"/>
            <a:ext cx="2011610" cy="19050"/>
          </a:xfrm>
          <a:prstGeom prst="rect">
            <a:avLst/>
          </a:prstGeom>
          <a:solidFill>
            <a:srgbClr val="083C35"/>
          </a:solidFill>
          <a:ln/>
        </p:spPr>
        <p:txBody>
          <a:bodyPr/>
          <a:lstStyle/>
          <a:p>
            <a:endParaRPr lang="en-IN"/>
          </a:p>
        </p:txBody>
      </p:sp>
      <p:sp>
        <p:nvSpPr>
          <p:cNvPr id="6" name="Text 4"/>
          <p:cNvSpPr/>
          <p:nvPr/>
        </p:nvSpPr>
        <p:spPr>
          <a:xfrm>
            <a:off x="457189" y="1904671"/>
            <a:ext cx="201161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Choose</a:t>
            </a:r>
            <a:endParaRPr lang="en-US" sz="1800" dirty="0"/>
          </a:p>
        </p:txBody>
      </p:sp>
      <p:sp>
        <p:nvSpPr>
          <p:cNvPr id="7" name="Text 5"/>
          <p:cNvSpPr/>
          <p:nvPr/>
        </p:nvSpPr>
        <p:spPr>
          <a:xfrm>
            <a:off x="457189" y="2386735"/>
            <a:ext cx="2011610"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Pick branch and semester; deselect or add courses.</a:t>
            </a:r>
            <a:endParaRPr lang="en-US" sz="1700" dirty="0"/>
          </a:p>
        </p:txBody>
      </p:sp>
      <p:sp>
        <p:nvSpPr>
          <p:cNvPr id="8" name="Text 6"/>
          <p:cNvSpPr/>
          <p:nvPr/>
        </p:nvSpPr>
        <p:spPr>
          <a:xfrm>
            <a:off x="2773492" y="14436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02</a:t>
            </a:r>
            <a:endParaRPr lang="en-US" sz="1700" dirty="0"/>
          </a:p>
        </p:txBody>
      </p:sp>
      <p:sp>
        <p:nvSpPr>
          <p:cNvPr id="9" name="Shape 7"/>
          <p:cNvSpPr/>
          <p:nvPr/>
        </p:nvSpPr>
        <p:spPr>
          <a:xfrm>
            <a:off x="2773492" y="1745853"/>
            <a:ext cx="2011610" cy="19050"/>
          </a:xfrm>
          <a:prstGeom prst="rect">
            <a:avLst/>
          </a:prstGeom>
          <a:solidFill>
            <a:srgbClr val="083C35"/>
          </a:solidFill>
          <a:ln/>
        </p:spPr>
        <p:txBody>
          <a:bodyPr/>
          <a:lstStyle/>
          <a:p>
            <a:endParaRPr lang="en-IN"/>
          </a:p>
        </p:txBody>
      </p:sp>
      <p:sp>
        <p:nvSpPr>
          <p:cNvPr id="10" name="Text 8"/>
          <p:cNvSpPr/>
          <p:nvPr/>
        </p:nvSpPr>
        <p:spPr>
          <a:xfrm>
            <a:off x="2773492" y="1904671"/>
            <a:ext cx="201170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Schedule</a:t>
            </a:r>
            <a:endParaRPr lang="en-US" sz="1800" dirty="0"/>
          </a:p>
        </p:txBody>
      </p:sp>
      <p:sp>
        <p:nvSpPr>
          <p:cNvPr id="11" name="Text 9"/>
          <p:cNvSpPr/>
          <p:nvPr/>
        </p:nvSpPr>
        <p:spPr>
          <a:xfrm>
            <a:off x="2773492" y="2386735"/>
            <a:ext cx="2011709"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Get a personal timetable with clash and tight-gap alerts.</a:t>
            </a:r>
            <a:endParaRPr lang="en-US" sz="1700" dirty="0"/>
          </a:p>
        </p:txBody>
      </p:sp>
      <p:sp>
        <p:nvSpPr>
          <p:cNvPr id="12" name="Text 10"/>
          <p:cNvSpPr/>
          <p:nvPr/>
        </p:nvSpPr>
        <p:spPr>
          <a:xfrm>
            <a:off x="5089894" y="14436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03</a:t>
            </a:r>
            <a:endParaRPr lang="en-US" sz="1700" dirty="0"/>
          </a:p>
        </p:txBody>
      </p:sp>
      <p:sp>
        <p:nvSpPr>
          <p:cNvPr id="13" name="Shape 11"/>
          <p:cNvSpPr/>
          <p:nvPr/>
        </p:nvSpPr>
        <p:spPr>
          <a:xfrm>
            <a:off x="5089894" y="1745853"/>
            <a:ext cx="2011808" cy="19050"/>
          </a:xfrm>
          <a:prstGeom prst="rect">
            <a:avLst/>
          </a:prstGeom>
          <a:solidFill>
            <a:srgbClr val="083C35"/>
          </a:solidFill>
          <a:ln/>
        </p:spPr>
        <p:txBody>
          <a:bodyPr/>
          <a:lstStyle/>
          <a:p>
            <a:endParaRPr lang="en-IN"/>
          </a:p>
        </p:txBody>
      </p:sp>
      <p:sp>
        <p:nvSpPr>
          <p:cNvPr id="14" name="Text 12"/>
          <p:cNvSpPr/>
          <p:nvPr/>
        </p:nvSpPr>
        <p:spPr>
          <a:xfrm>
            <a:off x="5089894" y="1904671"/>
            <a:ext cx="2011808"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Scope</a:t>
            </a:r>
            <a:endParaRPr lang="en-US" sz="1800" dirty="0"/>
          </a:p>
        </p:txBody>
      </p:sp>
      <p:sp>
        <p:nvSpPr>
          <p:cNvPr id="15" name="Text 13"/>
          <p:cNvSpPr/>
          <p:nvPr/>
        </p:nvSpPr>
        <p:spPr>
          <a:xfrm>
            <a:off x="5089894" y="2386735"/>
            <a:ext cx="2011808"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Mark in-syllabus versus excluded topics per course.</a:t>
            </a:r>
            <a:endParaRPr lang="en-US" sz="1700" dirty="0"/>
          </a:p>
        </p:txBody>
      </p:sp>
      <p:sp>
        <p:nvSpPr>
          <p:cNvPr id="16" name="Text 14"/>
          <p:cNvSpPr/>
          <p:nvPr/>
        </p:nvSpPr>
        <p:spPr>
          <a:xfrm>
            <a:off x="7406395" y="14436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04</a:t>
            </a:r>
            <a:endParaRPr lang="en-US" sz="1700" dirty="0"/>
          </a:p>
        </p:txBody>
      </p:sp>
      <p:sp>
        <p:nvSpPr>
          <p:cNvPr id="17" name="Shape 15"/>
          <p:cNvSpPr/>
          <p:nvPr/>
        </p:nvSpPr>
        <p:spPr>
          <a:xfrm>
            <a:off x="7406395" y="1745853"/>
            <a:ext cx="2011610" cy="19050"/>
          </a:xfrm>
          <a:prstGeom prst="rect">
            <a:avLst/>
          </a:prstGeom>
          <a:solidFill>
            <a:srgbClr val="083C35"/>
          </a:solidFill>
          <a:ln/>
        </p:spPr>
        <p:txBody>
          <a:bodyPr/>
          <a:lstStyle/>
          <a:p>
            <a:endParaRPr lang="en-IN"/>
          </a:p>
        </p:txBody>
      </p:sp>
      <p:sp>
        <p:nvSpPr>
          <p:cNvPr id="18" name="Text 16"/>
          <p:cNvSpPr/>
          <p:nvPr/>
        </p:nvSpPr>
        <p:spPr>
          <a:xfrm>
            <a:off x="7406395" y="1904671"/>
            <a:ext cx="201170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Plan</a:t>
            </a:r>
            <a:endParaRPr lang="en-US" sz="1800" dirty="0"/>
          </a:p>
        </p:txBody>
      </p:sp>
      <p:sp>
        <p:nvSpPr>
          <p:cNvPr id="19" name="Text 17"/>
          <p:cNvSpPr/>
          <p:nvPr/>
        </p:nvSpPr>
        <p:spPr>
          <a:xfrm>
            <a:off x="7406395" y="2386735"/>
            <a:ext cx="2011709"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Generate a day-by-day study plan automatically.</a:t>
            </a:r>
            <a:endParaRPr lang="en-US" sz="1700" dirty="0"/>
          </a:p>
        </p:txBody>
      </p:sp>
      <p:sp>
        <p:nvSpPr>
          <p:cNvPr id="20" name="Text 18"/>
          <p:cNvSpPr/>
          <p:nvPr/>
        </p:nvSpPr>
        <p:spPr>
          <a:xfrm>
            <a:off x="9722797" y="14436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05</a:t>
            </a:r>
            <a:endParaRPr lang="en-US" sz="1700" dirty="0"/>
          </a:p>
        </p:txBody>
      </p:sp>
      <p:sp>
        <p:nvSpPr>
          <p:cNvPr id="21" name="Shape 19"/>
          <p:cNvSpPr/>
          <p:nvPr/>
        </p:nvSpPr>
        <p:spPr>
          <a:xfrm>
            <a:off x="9722797" y="1745853"/>
            <a:ext cx="2011610" cy="19050"/>
          </a:xfrm>
          <a:prstGeom prst="rect">
            <a:avLst/>
          </a:prstGeom>
          <a:solidFill>
            <a:srgbClr val="083C35"/>
          </a:solidFill>
          <a:ln/>
        </p:spPr>
        <p:txBody>
          <a:bodyPr/>
          <a:lstStyle/>
          <a:p>
            <a:endParaRPr lang="en-IN"/>
          </a:p>
        </p:txBody>
      </p:sp>
      <p:sp>
        <p:nvSpPr>
          <p:cNvPr id="22" name="Text 20"/>
          <p:cNvSpPr/>
          <p:nvPr/>
        </p:nvSpPr>
        <p:spPr>
          <a:xfrm>
            <a:off x="9722797" y="1904671"/>
            <a:ext cx="201170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Ask</a:t>
            </a:r>
            <a:endParaRPr lang="en-US" sz="1800" dirty="0"/>
          </a:p>
        </p:txBody>
      </p:sp>
      <p:sp>
        <p:nvSpPr>
          <p:cNvPr id="23" name="Text 21"/>
          <p:cNvSpPr/>
          <p:nvPr/>
        </p:nvSpPr>
        <p:spPr>
          <a:xfrm>
            <a:off x="9722797" y="2386735"/>
            <a:ext cx="2011709" cy="119141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Ask course-aware doubts with citations and NPTEL-first links.</a:t>
            </a:r>
            <a:endParaRPr lang="en-US" sz="1700" dirty="0"/>
          </a:p>
        </p:txBody>
      </p:sp>
      <p:sp>
        <p:nvSpPr>
          <p:cNvPr id="24" name="Shape 22"/>
          <p:cNvSpPr/>
          <p:nvPr/>
        </p:nvSpPr>
        <p:spPr>
          <a:xfrm>
            <a:off x="457189" y="3800277"/>
            <a:ext cx="5486263" cy="1300559"/>
          </a:xfrm>
          <a:prstGeom prst="rect">
            <a:avLst/>
          </a:prstGeom>
          <a:solidFill>
            <a:srgbClr val="FFFFFF"/>
          </a:solidFill>
          <a:ln/>
        </p:spPr>
        <p:txBody>
          <a:bodyPr/>
          <a:lstStyle/>
          <a:p>
            <a:endParaRPr lang="en-IN"/>
          </a:p>
        </p:txBody>
      </p:sp>
      <p:sp>
        <p:nvSpPr>
          <p:cNvPr id="25" name="Text 23"/>
          <p:cNvSpPr/>
          <p:nvPr/>
        </p:nvSpPr>
        <p:spPr>
          <a:xfrm>
            <a:off x="660383" y="3987157"/>
            <a:ext cx="528306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10201D"/>
                </a:solidFill>
                <a:latin typeface="IBM Plex Sans SemiBold" pitchFamily="34" charset="0"/>
                <a:ea typeface="IBM Plex Sans SemiBold" pitchFamily="34" charset="-122"/>
                <a:cs typeface="IBM Plex Sans SemiBold" pitchFamily="34" charset="-120"/>
              </a:rPr>
              <a:t>SCREENSHOT PLACEHOLDER</a:t>
            </a:r>
            <a:endParaRPr lang="en-US" sz="1100" dirty="0"/>
          </a:p>
        </p:txBody>
      </p:sp>
      <p:sp>
        <p:nvSpPr>
          <p:cNvPr id="26" name="Text 24"/>
          <p:cNvSpPr/>
          <p:nvPr/>
        </p:nvSpPr>
        <p:spPr>
          <a:xfrm>
            <a:off x="660383" y="4263100"/>
            <a:ext cx="507987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Personal timetable</a:t>
            </a:r>
            <a:endParaRPr lang="en-US" sz="1800" dirty="0"/>
          </a:p>
        </p:txBody>
      </p:sp>
      <p:sp>
        <p:nvSpPr>
          <p:cNvPr id="27" name="Text 25"/>
          <p:cNvSpPr/>
          <p:nvPr/>
        </p:nvSpPr>
        <p:spPr>
          <a:xfrm>
            <a:off x="660383" y="4744974"/>
            <a:ext cx="5283068"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120"/>
              </a:rPr>
              <a:t>Clash and tight-gap alerts</a:t>
            </a:r>
            <a:endParaRPr lang="en-US" sz="1100" dirty="0"/>
          </a:p>
        </p:txBody>
      </p:sp>
      <p:sp>
        <p:nvSpPr>
          <p:cNvPr id="28" name="Shape 26"/>
          <p:cNvSpPr/>
          <p:nvPr/>
        </p:nvSpPr>
        <p:spPr>
          <a:xfrm>
            <a:off x="6248244" y="3800277"/>
            <a:ext cx="5486263" cy="1300559"/>
          </a:xfrm>
          <a:prstGeom prst="rect">
            <a:avLst/>
          </a:prstGeom>
          <a:solidFill>
            <a:srgbClr val="FFFFFF"/>
          </a:solidFill>
          <a:ln/>
        </p:spPr>
        <p:txBody>
          <a:bodyPr/>
          <a:lstStyle/>
          <a:p>
            <a:endParaRPr lang="en-IN"/>
          </a:p>
        </p:txBody>
      </p:sp>
      <p:sp>
        <p:nvSpPr>
          <p:cNvPr id="29" name="Text 27"/>
          <p:cNvSpPr/>
          <p:nvPr/>
        </p:nvSpPr>
        <p:spPr>
          <a:xfrm>
            <a:off x="6451439" y="3987157"/>
            <a:ext cx="5283068"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10201D"/>
                </a:solidFill>
                <a:latin typeface="IBM Plex Sans SemiBold" pitchFamily="34" charset="0"/>
                <a:ea typeface="IBM Plex Sans SemiBold" pitchFamily="34" charset="-122"/>
                <a:cs typeface="IBM Plex Sans SemiBold" pitchFamily="34" charset="-120"/>
              </a:rPr>
              <a:t>SCREENSHOT PLACEHOLDER</a:t>
            </a:r>
            <a:endParaRPr lang="en-US" sz="1100" dirty="0"/>
          </a:p>
        </p:txBody>
      </p:sp>
      <p:sp>
        <p:nvSpPr>
          <p:cNvPr id="30" name="Text 28"/>
          <p:cNvSpPr/>
          <p:nvPr/>
        </p:nvSpPr>
        <p:spPr>
          <a:xfrm>
            <a:off x="6451439" y="4263100"/>
            <a:ext cx="5079873"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Topic-wise plan</a:t>
            </a:r>
            <a:endParaRPr lang="en-US" sz="1800" dirty="0"/>
          </a:p>
        </p:txBody>
      </p:sp>
      <p:sp>
        <p:nvSpPr>
          <p:cNvPr id="31" name="Text 29"/>
          <p:cNvSpPr/>
          <p:nvPr/>
        </p:nvSpPr>
        <p:spPr>
          <a:xfrm>
            <a:off x="6451439" y="4744974"/>
            <a:ext cx="5283068"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120"/>
              </a:rPr>
              <a:t>Daily study plan and cited doubts</a:t>
            </a:r>
            <a:endParaRPr lang="en-US" sz="1100" dirty="0"/>
          </a:p>
        </p:txBody>
      </p:sp>
      <p:sp>
        <p:nvSpPr>
          <p:cNvPr id="32" name="Text 30"/>
          <p:cNvSpPr/>
          <p:nvPr/>
        </p:nvSpPr>
        <p:spPr>
          <a:xfrm>
            <a:off x="457189" y="5335722"/>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Deterministic date logic; Gemma 4 for understanding and reasoning · MentalPlanner · Built with Gemma 4 | Open Source (MIT)</a:t>
            </a:r>
            <a:endParaRPr lang="en-US" sz="1100" dirty="0"/>
          </a:p>
        </p:txBody>
      </p:sp>
      <p:sp>
        <p:nvSpPr>
          <p:cNvPr id="33" name="Rectangle 32">
            <a:extLst>
              <a:ext uri="{FF2B5EF4-FFF2-40B4-BE49-F238E27FC236}">
                <a16:creationId xmlns:a16="http://schemas.microsoft.com/office/drawing/2014/main" id="{6927B5E5-2791-63A0-875F-912AC0D1C0D2}"/>
              </a:ext>
            </a:extLst>
          </p:cNvPr>
          <p:cNvSpPr/>
          <p:nvPr/>
        </p:nvSpPr>
        <p:spPr>
          <a:xfrm>
            <a:off x="11076317" y="6530196"/>
            <a:ext cx="1026543" cy="258793"/>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FOUNDATION</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Tech stack: open-source first</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366606890"/>
              </p:ext>
            </p:extLst>
          </p:nvPr>
        </p:nvGraphicFramePr>
        <p:xfrm>
          <a:off x="457189" y="1443633"/>
          <a:ext cx="11277318" cy="1897412"/>
        </p:xfrm>
        <a:graphic>
          <a:graphicData uri="http://schemas.openxmlformats.org/drawingml/2006/table">
            <a:tbl>
              <a:tblPr/>
              <a:tblGrid>
                <a:gridCol w="3044848">
                  <a:extLst>
                    <a:ext uri="{9D8B030D-6E8A-4147-A177-3AD203B41FA5}">
                      <a16:colId xmlns:a16="http://schemas.microsoft.com/office/drawing/2014/main" val="20000"/>
                    </a:ext>
                  </a:extLst>
                </a:gridCol>
                <a:gridCol w="8232470">
                  <a:extLst>
                    <a:ext uri="{9D8B030D-6E8A-4147-A177-3AD203B41FA5}">
                      <a16:colId xmlns:a16="http://schemas.microsoft.com/office/drawing/2014/main" val="20001"/>
                    </a:ext>
                  </a:extLst>
                </a:gridCol>
              </a:tblGrid>
              <a:tr h="474353">
                <a:tc>
                  <a:txBody>
                    <a:bodyPr/>
                    <a:lstStyle/>
                    <a:p>
                      <a:pPr marL="0" indent="0" algn="l">
                        <a:buNone/>
                      </a:pPr>
                      <a:r>
                        <a:rPr lang="en-US" sz="1800" dirty="0">
                          <a:solidFill>
                            <a:srgbClr val="FFFFFF"/>
                          </a:solidFill>
                          <a:latin typeface="IBM Plex Sans" pitchFamily="34" charset="0"/>
                          <a:ea typeface="IBM Plex Sans" pitchFamily="34" charset="-122"/>
                          <a:cs typeface="IBM Plex Sans" pitchFamily="34" charset="-120"/>
                        </a:rPr>
                        <a:t>Frontend</a:t>
                      </a:r>
                      <a:endParaRPr lang="en-US" sz="1800" dirty="0">
                        <a:latin typeface="IBM Plex Sans" charset="0"/>
                        <a:ea typeface="IBM Plex Sans" charset="0"/>
                        <a:cs typeface="IBM Plex Sans" charset="0"/>
                      </a:endParaRPr>
                    </a:p>
                  </a:txBody>
                  <a:tcPr marL="161921" marR="161921" marT="86358" marB="86358" anchor="ctr">
                    <a:lnL w="13493" cap="flat" cmpd="sng" algn="ctr">
                      <a:solidFill>
                        <a:srgbClr val="083C35"/>
                      </a:solidFill>
                      <a:prstDash val="solid"/>
                      <a:round/>
                      <a:headEnd type="none" w="med" len="med"/>
                      <a:tailEnd type="none" w="med" len="med"/>
                    </a:lnL>
                    <a:lnR w="13493" cap="flat" cmpd="sng" algn="ctr">
                      <a:solidFill>
                        <a:srgbClr val="083C35"/>
                      </a:solidFill>
                      <a:prstDash val="solid"/>
                      <a:round/>
                      <a:headEnd type="none" w="med" len="med"/>
                      <a:tailEnd type="none" w="med" len="med"/>
                    </a:lnR>
                    <a:lnT w="13493" cap="flat" cmpd="sng" algn="ctr">
                      <a:solidFill>
                        <a:srgbClr val="083C35"/>
                      </a:solidFill>
                      <a:prstDash val="solid"/>
                      <a:round/>
                      <a:headEnd type="none" w="med" len="med"/>
                      <a:tailEnd type="none" w="med" len="med"/>
                    </a:lnT>
                    <a:lnB w="13493" cap="flat" cmpd="sng" algn="ctr">
                      <a:solidFill>
                        <a:srgbClr val="083C35"/>
                      </a:solidFill>
                      <a:prstDash val="solid"/>
                      <a:round/>
                      <a:headEnd type="none" w="med" len="med"/>
                      <a:tailEnd type="none" w="med" len="med"/>
                    </a:lnB>
                    <a:solidFill>
                      <a:srgbClr val="083C35"/>
                    </a:solidFill>
                  </a:tcPr>
                </a:tc>
                <a:tc>
                  <a:txBody>
                    <a:bodyPr/>
                    <a:lstStyle/>
                    <a:p>
                      <a:pPr marL="0" indent="0" algn="l">
                        <a:buNone/>
                      </a:pPr>
                      <a:r>
                        <a:rPr lang="en-US" sz="1700" dirty="0">
                          <a:solidFill>
                            <a:srgbClr val="FFFFFF"/>
                          </a:solidFill>
                          <a:latin typeface="IBM Plex Sans" pitchFamily="34" charset="0"/>
                          <a:ea typeface="IBM Plex Sans" pitchFamily="34" charset="-122"/>
                          <a:cs typeface="IBM Plex Sans" pitchFamily="34" charset="-120"/>
                        </a:rPr>
                        <a:t>Vanilla HTML5, CSS3, and JavaScript</a:t>
                      </a:r>
                      <a:endParaRPr lang="en-US" sz="1700" dirty="0">
                        <a:latin typeface="IBM Plex Sans" charset="0"/>
                        <a:ea typeface="IBM Plex Sans" charset="0"/>
                        <a:cs typeface="IBM Plex Sans" charset="0"/>
                      </a:endParaRPr>
                    </a:p>
                  </a:txBody>
                  <a:tcPr marL="161921" marR="161921" marT="86358" marB="86358" anchor="ctr">
                    <a:lnL w="13493" cap="flat" cmpd="sng" algn="ctr">
                      <a:solidFill>
                        <a:srgbClr val="083C35"/>
                      </a:solidFill>
                      <a:prstDash val="solid"/>
                      <a:round/>
                      <a:headEnd type="none" w="med" len="med"/>
                      <a:tailEnd type="none" w="med" len="med"/>
                    </a:lnL>
                    <a:lnR w="13493" cap="flat" cmpd="sng" algn="ctr">
                      <a:solidFill>
                        <a:srgbClr val="083C35"/>
                      </a:solidFill>
                      <a:prstDash val="solid"/>
                      <a:round/>
                      <a:headEnd type="none" w="med" len="med"/>
                      <a:tailEnd type="none" w="med" len="med"/>
                    </a:lnR>
                    <a:lnT w="13493" cap="flat" cmpd="sng" algn="ctr">
                      <a:solidFill>
                        <a:srgbClr val="083C35"/>
                      </a:solidFill>
                      <a:prstDash val="solid"/>
                      <a:round/>
                      <a:headEnd type="none" w="med" len="med"/>
                      <a:tailEnd type="none" w="med" len="med"/>
                    </a:lnT>
                    <a:lnB w="13493" cap="flat" cmpd="sng" algn="ctr">
                      <a:solidFill>
                        <a:srgbClr val="083C35"/>
                      </a:solidFill>
                      <a:prstDash val="solid"/>
                      <a:round/>
                      <a:headEnd type="none" w="med" len="med"/>
                      <a:tailEnd type="none" w="med" len="med"/>
                    </a:lnB>
                    <a:solidFill>
                      <a:srgbClr val="083C35"/>
                    </a:solidFill>
                  </a:tcPr>
                </a:tc>
                <a:extLst>
                  <a:ext uri="{0D108BD9-81ED-4DB2-BD59-A6C34878D82A}">
                    <a16:rowId xmlns:a16="http://schemas.microsoft.com/office/drawing/2014/main" val="10000"/>
                  </a:ext>
                </a:extLst>
              </a:tr>
              <a:tr h="474353">
                <a:tc>
                  <a:txBody>
                    <a:bodyPr/>
                    <a:lstStyle/>
                    <a:p>
                      <a:pPr marL="0" indent="0" algn="l">
                        <a:buNone/>
                      </a:pPr>
                      <a:r>
                        <a:rPr lang="en-US" sz="1800" dirty="0">
                          <a:solidFill>
                            <a:srgbClr val="10201D"/>
                          </a:solidFill>
                          <a:latin typeface="IBM Plex Sans" pitchFamily="34" charset="0"/>
                          <a:ea typeface="IBM Plex Sans" pitchFamily="34" charset="-122"/>
                          <a:cs typeface="IBM Plex Sans" pitchFamily="34" charset="-120"/>
                        </a:rPr>
                        <a:t>Backend</a:t>
                      </a:r>
                      <a:endParaRPr lang="en-US" sz="1800" dirty="0">
                        <a:latin typeface="IBM Plex Sans" charset="0"/>
                        <a:ea typeface="IBM Plex Sans" charset="0"/>
                        <a:cs typeface="IBM Plex Sans" charset="0"/>
                      </a:endParaRPr>
                    </a:p>
                  </a:txBody>
                  <a:tcPr marL="161921" marR="161921" marT="86358" marB="86358" anchor="ctr">
                    <a:lnL w="13493" cap="flat" cmpd="sng" algn="ctr">
                      <a:solidFill>
                        <a:srgbClr val="FFFFFF"/>
                      </a:solidFill>
                      <a:prstDash val="solid"/>
                      <a:round/>
                      <a:headEnd type="none" w="med" len="med"/>
                      <a:tailEnd type="none" w="med" len="med"/>
                    </a:lnL>
                    <a:lnR w="13493" cap="flat" cmpd="sng" algn="ctr">
                      <a:solidFill>
                        <a:srgbClr val="FFFFFF"/>
                      </a:solidFill>
                      <a:prstDash val="solid"/>
                      <a:round/>
                      <a:headEnd type="none" w="med" len="med"/>
                      <a:tailEnd type="none" w="med" len="med"/>
                    </a:lnR>
                    <a:lnT w="13493" cap="flat" cmpd="sng" algn="ctr">
                      <a:solidFill>
                        <a:srgbClr val="083C35"/>
                      </a:solidFill>
                      <a:prstDash val="solid"/>
                      <a:round/>
                      <a:headEnd type="none" w="med" len="med"/>
                      <a:tailEnd type="none" w="med" len="med"/>
                    </a:lnT>
                    <a:lnB w="13493"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dirty="0">
                          <a:solidFill>
                            <a:srgbClr val="10201D"/>
                          </a:solidFill>
                          <a:latin typeface="IBM Plex Sans" pitchFamily="34" charset="0"/>
                          <a:ea typeface="IBM Plex Sans" pitchFamily="34" charset="-122"/>
                          <a:cs typeface="IBM Plex Sans" pitchFamily="34" charset="-120"/>
                        </a:rPr>
                        <a:t>Python + FastAPI</a:t>
                      </a:r>
                      <a:endParaRPr lang="en-US" sz="1700" dirty="0">
                        <a:latin typeface="IBM Plex Sans" charset="0"/>
                        <a:ea typeface="IBM Plex Sans" charset="0"/>
                        <a:cs typeface="IBM Plex Sans" charset="0"/>
                      </a:endParaRPr>
                    </a:p>
                  </a:txBody>
                  <a:tcPr marL="161921" marR="161921" marT="86358" marB="86358" anchor="ctr">
                    <a:lnL w="13493" cap="flat" cmpd="sng" algn="ctr">
                      <a:solidFill>
                        <a:srgbClr val="FFFFFF"/>
                      </a:solidFill>
                      <a:prstDash val="solid"/>
                      <a:round/>
                      <a:headEnd type="none" w="med" len="med"/>
                      <a:tailEnd type="none" w="med" len="med"/>
                    </a:lnL>
                    <a:lnR w="13493" cap="flat" cmpd="sng" algn="ctr">
                      <a:solidFill>
                        <a:srgbClr val="FFFFFF"/>
                      </a:solidFill>
                      <a:prstDash val="solid"/>
                      <a:round/>
                      <a:headEnd type="none" w="med" len="med"/>
                      <a:tailEnd type="none" w="med" len="med"/>
                    </a:lnR>
                    <a:lnT w="13493" cap="flat" cmpd="sng" algn="ctr">
                      <a:solidFill>
                        <a:srgbClr val="083C35"/>
                      </a:solidFill>
                      <a:prstDash val="solid"/>
                      <a:round/>
                      <a:headEnd type="none" w="med" len="med"/>
                      <a:tailEnd type="none" w="med" len="med"/>
                    </a:lnT>
                    <a:lnB w="13493"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4353">
                <a:tc>
                  <a:txBody>
                    <a:bodyPr/>
                    <a:lstStyle/>
                    <a:p>
                      <a:pPr marL="0" indent="0" algn="l">
                        <a:buNone/>
                      </a:pPr>
                      <a:r>
                        <a:rPr lang="en-US" sz="1800" dirty="0">
                          <a:solidFill>
                            <a:srgbClr val="FFFFFF"/>
                          </a:solidFill>
                          <a:latin typeface="IBM Plex Sans" pitchFamily="34" charset="0"/>
                          <a:ea typeface="IBM Plex Sans" pitchFamily="34" charset="-122"/>
                          <a:cs typeface="IBM Plex Sans" pitchFamily="34" charset="-120"/>
                        </a:rPr>
                        <a:t>AI</a:t>
                      </a:r>
                      <a:endParaRPr lang="en-US" sz="1800" dirty="0">
                        <a:latin typeface="IBM Plex Sans" charset="0"/>
                        <a:ea typeface="IBM Plex Sans" charset="0"/>
                        <a:cs typeface="IBM Plex Sans" charset="0"/>
                      </a:endParaRPr>
                    </a:p>
                  </a:txBody>
                  <a:tcPr marL="161921" marR="161921" marT="86358" marB="86358" anchor="ctr">
                    <a:lnL w="13493" cap="flat" cmpd="sng" algn="ctr">
                      <a:solidFill>
                        <a:srgbClr val="0A7C78"/>
                      </a:solidFill>
                      <a:prstDash val="solid"/>
                      <a:round/>
                      <a:headEnd type="none" w="med" len="med"/>
                      <a:tailEnd type="none" w="med" len="med"/>
                    </a:lnL>
                    <a:lnR w="13493" cap="flat" cmpd="sng" algn="ctr">
                      <a:solidFill>
                        <a:srgbClr val="0A7C78"/>
                      </a:solidFill>
                      <a:prstDash val="solid"/>
                      <a:round/>
                      <a:headEnd type="none" w="med" len="med"/>
                      <a:tailEnd type="none" w="med" len="med"/>
                    </a:lnR>
                    <a:lnT w="13493" cap="flat" cmpd="sng" algn="ctr">
                      <a:solidFill>
                        <a:srgbClr val="FFFFFF"/>
                      </a:solidFill>
                      <a:prstDash val="solid"/>
                      <a:round/>
                      <a:headEnd type="none" w="med" len="med"/>
                      <a:tailEnd type="none" w="med" len="med"/>
                    </a:lnT>
                    <a:lnB w="13493" cap="flat" cmpd="sng" algn="ctr">
                      <a:solidFill>
                        <a:srgbClr val="0A7C78"/>
                      </a:solidFill>
                      <a:prstDash val="solid"/>
                      <a:round/>
                      <a:headEnd type="none" w="med" len="med"/>
                      <a:tailEnd type="none" w="med" len="med"/>
                    </a:lnB>
                    <a:solidFill>
                      <a:srgbClr val="0A7C78"/>
                    </a:solidFill>
                  </a:tcPr>
                </a:tc>
                <a:tc>
                  <a:txBody>
                    <a:bodyPr/>
                    <a:lstStyle/>
                    <a:p>
                      <a:pPr marL="0" indent="0" algn="l">
                        <a:buNone/>
                      </a:pPr>
                      <a:r>
                        <a:rPr lang="en-US" sz="1700" dirty="0">
                          <a:solidFill>
                            <a:srgbClr val="FFFFFF"/>
                          </a:solidFill>
                          <a:latin typeface="IBM Plex Sans" pitchFamily="34" charset="0"/>
                          <a:ea typeface="IBM Plex Sans" pitchFamily="34" charset="-122"/>
                          <a:cs typeface="IBM Plex Sans" pitchFamily="34" charset="-120"/>
                        </a:rPr>
                        <a:t>Gemma 4 behind one configurable llm.py wrapper</a:t>
                      </a:r>
                      <a:endParaRPr lang="en-US" sz="1700" dirty="0">
                        <a:latin typeface="IBM Plex Sans" charset="0"/>
                        <a:ea typeface="IBM Plex Sans" charset="0"/>
                        <a:cs typeface="IBM Plex Sans" charset="0"/>
                      </a:endParaRPr>
                    </a:p>
                  </a:txBody>
                  <a:tcPr marL="161921" marR="161921" marT="86358" marB="86358" anchor="ctr">
                    <a:lnL w="13493" cap="flat" cmpd="sng" algn="ctr">
                      <a:solidFill>
                        <a:srgbClr val="0A7C78"/>
                      </a:solidFill>
                      <a:prstDash val="solid"/>
                      <a:round/>
                      <a:headEnd type="none" w="med" len="med"/>
                      <a:tailEnd type="none" w="med" len="med"/>
                    </a:lnL>
                    <a:lnR w="13493" cap="flat" cmpd="sng" algn="ctr">
                      <a:solidFill>
                        <a:srgbClr val="0A7C78"/>
                      </a:solidFill>
                      <a:prstDash val="solid"/>
                      <a:round/>
                      <a:headEnd type="none" w="med" len="med"/>
                      <a:tailEnd type="none" w="med" len="med"/>
                    </a:lnR>
                    <a:lnT w="13493" cap="flat" cmpd="sng" algn="ctr">
                      <a:solidFill>
                        <a:srgbClr val="FFFFFF"/>
                      </a:solidFill>
                      <a:prstDash val="solid"/>
                      <a:round/>
                      <a:headEnd type="none" w="med" len="med"/>
                      <a:tailEnd type="none" w="med" len="med"/>
                    </a:lnT>
                    <a:lnB w="13493" cap="flat" cmpd="sng" algn="ctr">
                      <a:solidFill>
                        <a:srgbClr val="0A7C78"/>
                      </a:solidFill>
                      <a:prstDash val="solid"/>
                      <a:round/>
                      <a:headEnd type="none" w="med" len="med"/>
                      <a:tailEnd type="none" w="med" len="med"/>
                    </a:lnB>
                    <a:solidFill>
                      <a:srgbClr val="0A7C78"/>
                    </a:solidFill>
                  </a:tcPr>
                </a:tc>
                <a:extLst>
                  <a:ext uri="{0D108BD9-81ED-4DB2-BD59-A6C34878D82A}">
                    <a16:rowId xmlns:a16="http://schemas.microsoft.com/office/drawing/2014/main" val="10003"/>
                  </a:ext>
                </a:extLst>
              </a:tr>
              <a:tr h="474353">
                <a:tc>
                  <a:txBody>
                    <a:bodyPr/>
                    <a:lstStyle/>
                    <a:p>
                      <a:pPr marL="0" indent="0" algn="l">
                        <a:buNone/>
                      </a:pPr>
                      <a:r>
                        <a:rPr lang="en-US" sz="1800" dirty="0">
                          <a:solidFill>
                            <a:srgbClr val="10201D"/>
                          </a:solidFill>
                          <a:latin typeface="IBM Plex Sans" pitchFamily="34" charset="0"/>
                          <a:ea typeface="IBM Plex Sans" pitchFamily="34" charset="-122"/>
                          <a:cs typeface="IBM Plex Sans" pitchFamily="34" charset="-120"/>
                        </a:rPr>
                        <a:t>Parsing + integrations</a:t>
                      </a:r>
                      <a:endParaRPr lang="en-US" sz="1800" dirty="0">
                        <a:latin typeface="IBM Plex Sans" charset="0"/>
                        <a:ea typeface="IBM Plex Sans" charset="0"/>
                        <a:cs typeface="IBM Plex Sans" charset="0"/>
                      </a:endParaRPr>
                    </a:p>
                  </a:txBody>
                  <a:tcPr marL="161921" marR="161921" marT="86358" marB="86358" anchor="ctr">
                    <a:lnL w="13493" cap="flat" cmpd="sng" algn="ctr">
                      <a:solidFill>
                        <a:srgbClr val="FFFFFF"/>
                      </a:solidFill>
                      <a:prstDash val="solid"/>
                      <a:round/>
                      <a:headEnd type="none" w="med" len="med"/>
                      <a:tailEnd type="none" w="med" len="med"/>
                    </a:lnL>
                    <a:lnR w="13493" cap="flat" cmpd="sng" algn="ctr">
                      <a:solidFill>
                        <a:srgbClr val="FFFFFF"/>
                      </a:solidFill>
                      <a:prstDash val="solid"/>
                      <a:round/>
                      <a:headEnd type="none" w="med" len="med"/>
                      <a:tailEnd type="none" w="med" len="med"/>
                    </a:lnR>
                    <a:lnT w="13493" cap="flat" cmpd="sng" algn="ctr">
                      <a:solidFill>
                        <a:srgbClr val="0A7C78"/>
                      </a:solidFill>
                      <a:prstDash val="solid"/>
                      <a:round/>
                      <a:headEnd type="none" w="med" len="med"/>
                      <a:tailEnd type="none" w="med" len="med"/>
                    </a:lnT>
                    <a:lnB w="13493"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1700" dirty="0" err="1">
                          <a:solidFill>
                            <a:srgbClr val="10201D"/>
                          </a:solidFill>
                          <a:latin typeface="IBM Plex Sans" pitchFamily="34" charset="0"/>
                          <a:ea typeface="IBM Plex Sans" pitchFamily="34" charset="-122"/>
                          <a:cs typeface="IBM Plex Sans" pitchFamily="34" charset="-120"/>
                        </a:rPr>
                        <a:t>pdfplumber</a:t>
                      </a:r>
                      <a:r>
                        <a:rPr lang="en-US" sz="1700" dirty="0">
                          <a:solidFill>
                            <a:srgbClr val="10201D"/>
                          </a:solidFill>
                          <a:latin typeface="IBM Plex Sans" pitchFamily="34" charset="0"/>
                          <a:ea typeface="IBM Plex Sans" pitchFamily="34" charset="-122"/>
                          <a:cs typeface="IBM Plex Sans" pitchFamily="34" charset="-120"/>
                        </a:rPr>
                        <a:t>, YouTube, web search</a:t>
                      </a:r>
                      <a:endParaRPr lang="en-US" sz="1700" dirty="0">
                        <a:latin typeface="IBM Plex Sans" charset="0"/>
                        <a:ea typeface="IBM Plex Sans" charset="0"/>
                        <a:cs typeface="IBM Plex Sans" charset="0"/>
                      </a:endParaRPr>
                    </a:p>
                  </a:txBody>
                  <a:tcPr marL="161921" marR="161921" marT="86358" marB="86358" anchor="ctr">
                    <a:lnL w="13493" cap="flat" cmpd="sng" algn="ctr">
                      <a:solidFill>
                        <a:srgbClr val="FFFFFF"/>
                      </a:solidFill>
                      <a:prstDash val="solid"/>
                      <a:round/>
                      <a:headEnd type="none" w="med" len="med"/>
                      <a:tailEnd type="none" w="med" len="med"/>
                    </a:lnL>
                    <a:lnR w="13493" cap="flat" cmpd="sng" algn="ctr">
                      <a:solidFill>
                        <a:srgbClr val="FFFFFF"/>
                      </a:solidFill>
                      <a:prstDash val="solid"/>
                      <a:round/>
                      <a:headEnd type="none" w="med" len="med"/>
                      <a:tailEnd type="none" w="med" len="med"/>
                    </a:lnR>
                    <a:lnT w="13493" cap="flat" cmpd="sng" algn="ctr">
                      <a:solidFill>
                        <a:srgbClr val="0A7C78"/>
                      </a:solidFill>
                      <a:prstDash val="solid"/>
                      <a:round/>
                      <a:headEnd type="none" w="med" len="med"/>
                      <a:tailEnd type="none" w="med" len="med"/>
                    </a:lnT>
                    <a:lnB w="13493"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189" y="4448699"/>
            <a:ext cx="11734506" cy="297855"/>
          </a:xfrm>
          <a:prstGeom prst="rect">
            <a:avLst/>
          </a:prstGeom>
          <a:noFill/>
          <a:ln/>
        </p:spPr>
        <p:txBody>
          <a:bodyPr wrap="none" lIns="0" tIns="0" rIns="0" bIns="0" rtlCol="0" anchor="t"/>
          <a:lstStyle/>
          <a:p>
            <a:pPr marL="0" indent="0" algn="l">
              <a:lnSpc>
                <a:spcPct val="115000"/>
              </a:lnSpc>
              <a:buNone/>
            </a:pPr>
            <a:r>
              <a:rPr lang="en-US" sz="1700" b="1" dirty="0">
                <a:solidFill>
                  <a:srgbClr val="10201D"/>
                </a:solidFill>
                <a:latin typeface="IBM Plex Sans Bold" pitchFamily="34" charset="0"/>
                <a:ea typeface="IBM Plex Sans Bold" pitchFamily="34" charset="-122"/>
                <a:cs typeface="IBM Plex Sans Bold" pitchFamily="34" charset="-120"/>
              </a:rPr>
              <a:t>100% open-source components,</a:t>
            </a:r>
            <a:r>
              <a:rPr lang="en-US" sz="1700" dirty="0">
                <a:solidFill>
                  <a:srgbClr val="10201D"/>
                </a:solidFill>
                <a:latin typeface="IBM Plex Sans" pitchFamily="34" charset="0"/>
                <a:ea typeface="IBM Plex Sans" pitchFamily="34" charset="-122"/>
                <a:cs typeface="IBM Plex Sans" pitchFamily="34" charset="-120"/>
              </a:rPr>
              <a:t> · model swap is one config change</a:t>
            </a:r>
            <a:endParaRPr lang="en-US" sz="1700" dirty="0"/>
          </a:p>
        </p:txBody>
      </p:sp>
      <p:sp>
        <p:nvSpPr>
          <p:cNvPr id="4" name="Text 3"/>
          <p:cNvSpPr/>
          <p:nvPr/>
        </p:nvSpPr>
        <p:spPr>
          <a:xfrm>
            <a:off x="457189" y="4974963"/>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7" name="Rectangle 6">
            <a:extLst>
              <a:ext uri="{FF2B5EF4-FFF2-40B4-BE49-F238E27FC236}">
                <a16:creationId xmlns:a16="http://schemas.microsoft.com/office/drawing/2014/main" id="{48EFDAF1-EF0E-C73D-6BDB-931BEE5695E2}"/>
              </a:ext>
            </a:extLst>
          </p:cNvPr>
          <p:cNvSpPr/>
          <p:nvPr/>
        </p:nvSpPr>
        <p:spPr>
          <a:xfrm>
            <a:off x="10981425" y="6504317"/>
            <a:ext cx="1132631" cy="293298"/>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DATA PIPELINE</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Turning messy PDFs into structured data</a:t>
            </a:r>
            <a:endParaRPr lang="en-US" sz="3400" dirty="0"/>
          </a:p>
        </p:txBody>
      </p:sp>
      <p:sp>
        <p:nvSpPr>
          <p:cNvPr id="4" name="Text 2"/>
          <p:cNvSpPr/>
          <p:nvPr/>
        </p:nvSpPr>
        <p:spPr>
          <a:xfrm>
            <a:off x="457189" y="16722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01</a:t>
            </a:r>
            <a:endParaRPr lang="en-US" sz="1700" dirty="0"/>
          </a:p>
        </p:txBody>
      </p:sp>
      <p:sp>
        <p:nvSpPr>
          <p:cNvPr id="5" name="Shape 3"/>
          <p:cNvSpPr/>
          <p:nvPr/>
        </p:nvSpPr>
        <p:spPr>
          <a:xfrm>
            <a:off x="457189" y="1974453"/>
            <a:ext cx="3353907" cy="19050"/>
          </a:xfrm>
          <a:prstGeom prst="rect">
            <a:avLst/>
          </a:prstGeom>
          <a:solidFill>
            <a:srgbClr val="083C35"/>
          </a:solidFill>
          <a:ln/>
        </p:spPr>
        <p:txBody>
          <a:bodyPr/>
          <a:lstStyle/>
          <a:p>
            <a:endParaRPr lang="en-IN"/>
          </a:p>
        </p:txBody>
      </p:sp>
      <p:sp>
        <p:nvSpPr>
          <p:cNvPr id="6" name="Text 4"/>
          <p:cNvSpPr/>
          <p:nvPr/>
        </p:nvSpPr>
        <p:spPr>
          <a:xfrm>
            <a:off x="457189" y="2133271"/>
            <a:ext cx="335390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Extract</a:t>
            </a:r>
            <a:endParaRPr lang="en-US" sz="1800" dirty="0"/>
          </a:p>
        </p:txBody>
      </p:sp>
      <p:sp>
        <p:nvSpPr>
          <p:cNvPr id="7" name="Text 5"/>
          <p:cNvSpPr/>
          <p:nvPr/>
        </p:nvSpPr>
        <p:spPr>
          <a:xfrm>
            <a:off x="457189" y="2615335"/>
            <a:ext cx="3353907"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Word positions recover slots, rows, aliases, and split halls.</a:t>
            </a:r>
            <a:endParaRPr lang="en-US" sz="1700" dirty="0"/>
          </a:p>
        </p:txBody>
      </p:sp>
      <p:sp>
        <p:nvSpPr>
          <p:cNvPr id="8" name="Text 6"/>
          <p:cNvSpPr/>
          <p:nvPr/>
        </p:nvSpPr>
        <p:spPr>
          <a:xfrm>
            <a:off x="3963491" y="1672233"/>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02</a:t>
            </a:r>
            <a:endParaRPr lang="en-US" sz="1700" dirty="0"/>
          </a:p>
        </p:txBody>
      </p:sp>
      <p:sp>
        <p:nvSpPr>
          <p:cNvPr id="9" name="Shape 7"/>
          <p:cNvSpPr/>
          <p:nvPr/>
        </p:nvSpPr>
        <p:spPr>
          <a:xfrm>
            <a:off x="3963491" y="1974453"/>
            <a:ext cx="3353907" cy="19050"/>
          </a:xfrm>
          <a:prstGeom prst="rect">
            <a:avLst/>
          </a:prstGeom>
          <a:solidFill>
            <a:srgbClr val="083C35"/>
          </a:solidFill>
          <a:ln/>
        </p:spPr>
        <p:txBody>
          <a:bodyPr/>
          <a:lstStyle/>
          <a:p>
            <a:endParaRPr lang="en-IN"/>
          </a:p>
        </p:txBody>
      </p:sp>
      <p:sp>
        <p:nvSpPr>
          <p:cNvPr id="10" name="Text 8"/>
          <p:cNvSpPr/>
          <p:nvPr/>
        </p:nvSpPr>
        <p:spPr>
          <a:xfrm>
            <a:off x="3963491" y="2133271"/>
            <a:ext cx="335400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Fallback</a:t>
            </a:r>
            <a:endParaRPr lang="en-US" sz="1800" dirty="0"/>
          </a:p>
        </p:txBody>
      </p:sp>
      <p:sp>
        <p:nvSpPr>
          <p:cNvPr id="11" name="Text 9"/>
          <p:cNvSpPr/>
          <p:nvPr/>
        </p:nvSpPr>
        <p:spPr>
          <a:xfrm>
            <a:off x="3963490" y="2615335"/>
            <a:ext cx="3450445"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Gemma 4 page-wise </a:t>
            </a:r>
            <a:r>
              <a:rPr lang="en-US" sz="1700" dirty="0">
                <a:solidFill>
                  <a:srgbClr val="083C35"/>
                </a:solidFill>
                <a:latin typeface="IBM Plex Sans" pitchFamily="34" charset="0"/>
                <a:ea typeface="IBM Plex Sans" pitchFamily="34" charset="-122"/>
                <a:cs typeface="IBM Plex Sans" pitchFamily="34" charset="-120"/>
              </a:rPr>
              <a:t>JSON</a:t>
            </a:r>
            <a:r>
              <a:rPr lang="en-US" sz="1700" dirty="0">
                <a:solidFill>
                  <a:srgbClr val="10201D"/>
                </a:solidFill>
                <a:latin typeface="IBM Plex Sans" pitchFamily="34" charset="0"/>
                <a:ea typeface="IBM Plex Sans" pitchFamily="34" charset="-122"/>
                <a:cs typeface="IBM Plex Sans" pitchFamily="34" charset="-120"/>
              </a:rPr>
              <a:t> conversion handles difficult pages.</a:t>
            </a:r>
            <a:endParaRPr lang="en-US" sz="1700" dirty="0"/>
          </a:p>
        </p:txBody>
      </p:sp>
      <p:sp>
        <p:nvSpPr>
          <p:cNvPr id="12" name="Text 10"/>
          <p:cNvSpPr/>
          <p:nvPr/>
        </p:nvSpPr>
        <p:spPr>
          <a:xfrm>
            <a:off x="457189" y="3356967"/>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03</a:t>
            </a:r>
            <a:endParaRPr lang="en-US" sz="1700" dirty="0"/>
          </a:p>
        </p:txBody>
      </p:sp>
      <p:sp>
        <p:nvSpPr>
          <p:cNvPr id="13" name="Shape 11"/>
          <p:cNvSpPr/>
          <p:nvPr/>
        </p:nvSpPr>
        <p:spPr>
          <a:xfrm>
            <a:off x="457189" y="3659187"/>
            <a:ext cx="3353907" cy="19050"/>
          </a:xfrm>
          <a:prstGeom prst="rect">
            <a:avLst/>
          </a:prstGeom>
          <a:solidFill>
            <a:srgbClr val="083C35"/>
          </a:solidFill>
          <a:ln/>
        </p:spPr>
        <p:txBody>
          <a:bodyPr/>
          <a:lstStyle/>
          <a:p>
            <a:endParaRPr lang="en-IN"/>
          </a:p>
        </p:txBody>
      </p:sp>
      <p:sp>
        <p:nvSpPr>
          <p:cNvPr id="14" name="Text 12"/>
          <p:cNvSpPr/>
          <p:nvPr/>
        </p:nvSpPr>
        <p:spPr>
          <a:xfrm>
            <a:off x="457189" y="3818005"/>
            <a:ext cx="335390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Decompose</a:t>
            </a:r>
            <a:endParaRPr lang="en-US" sz="1800" dirty="0"/>
          </a:p>
        </p:txBody>
      </p:sp>
      <p:sp>
        <p:nvSpPr>
          <p:cNvPr id="15" name="Text 13"/>
          <p:cNvSpPr/>
          <p:nvPr/>
        </p:nvSpPr>
        <p:spPr>
          <a:xfrm>
            <a:off x="457189" y="4300069"/>
            <a:ext cx="3353907"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Regex headers, then Gemma 4 topic decomposition.</a:t>
            </a:r>
            <a:endParaRPr lang="en-US" sz="1700" dirty="0"/>
          </a:p>
        </p:txBody>
      </p:sp>
      <p:sp>
        <p:nvSpPr>
          <p:cNvPr id="16" name="Text 14"/>
          <p:cNvSpPr/>
          <p:nvPr/>
        </p:nvSpPr>
        <p:spPr>
          <a:xfrm>
            <a:off x="3963491" y="3356967"/>
            <a:ext cx="868738" cy="215900"/>
          </a:xfrm>
          <a:prstGeom prst="rect">
            <a:avLst/>
          </a:prstGeom>
          <a:noFill/>
          <a:ln/>
        </p:spPr>
        <p:txBody>
          <a:bodyPr wrap="none" lIns="0" tIns="0" rIns="0" bIns="0" rtlCol="0" anchor="t"/>
          <a:lstStyle/>
          <a:p>
            <a:pPr marL="0" indent="0" algn="l">
              <a:lnSpc>
                <a:spcPct val="83000"/>
              </a:lnSpc>
              <a:buNone/>
            </a:pPr>
            <a:r>
              <a:rPr lang="en-US" sz="1700" dirty="0">
                <a:solidFill>
                  <a:srgbClr val="083C35"/>
                </a:solidFill>
                <a:latin typeface="IBM Plex Sans SemiBold" pitchFamily="34" charset="0"/>
                <a:ea typeface="IBM Plex Sans SemiBold" pitchFamily="34" charset="-122"/>
                <a:cs typeface="IBM Plex Sans SemiBold" pitchFamily="34" charset="-120"/>
              </a:rPr>
              <a:t>04</a:t>
            </a:r>
            <a:endParaRPr lang="en-US" sz="1700" dirty="0"/>
          </a:p>
        </p:txBody>
      </p:sp>
      <p:sp>
        <p:nvSpPr>
          <p:cNvPr id="17" name="Shape 15"/>
          <p:cNvSpPr/>
          <p:nvPr/>
        </p:nvSpPr>
        <p:spPr>
          <a:xfrm>
            <a:off x="3963491" y="3659187"/>
            <a:ext cx="3353907" cy="19050"/>
          </a:xfrm>
          <a:prstGeom prst="rect">
            <a:avLst/>
          </a:prstGeom>
          <a:solidFill>
            <a:srgbClr val="083C35"/>
          </a:solidFill>
          <a:ln/>
        </p:spPr>
        <p:txBody>
          <a:bodyPr/>
          <a:lstStyle/>
          <a:p>
            <a:endParaRPr lang="en-IN"/>
          </a:p>
        </p:txBody>
      </p:sp>
      <p:sp>
        <p:nvSpPr>
          <p:cNvPr id="18" name="Text 16"/>
          <p:cNvSpPr/>
          <p:nvPr/>
        </p:nvSpPr>
        <p:spPr>
          <a:xfrm>
            <a:off x="3963491" y="3818005"/>
            <a:ext cx="3354006"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Validate</a:t>
            </a:r>
            <a:endParaRPr lang="en-US" sz="1800" dirty="0"/>
          </a:p>
        </p:txBody>
      </p:sp>
      <p:sp>
        <p:nvSpPr>
          <p:cNvPr id="19" name="Text 17"/>
          <p:cNvSpPr/>
          <p:nvPr/>
        </p:nvSpPr>
        <p:spPr>
          <a:xfrm>
            <a:off x="3963491" y="4300069"/>
            <a:ext cx="3354006"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Schema-validated fields produce timetable.json and courses.json.</a:t>
            </a:r>
            <a:endParaRPr lang="en-US" sz="1700" dirty="0"/>
          </a:p>
        </p:txBody>
      </p:sp>
      <p:sp>
        <p:nvSpPr>
          <p:cNvPr id="20" name="Text 18"/>
          <p:cNvSpPr/>
          <p:nvPr/>
        </p:nvSpPr>
        <p:spPr>
          <a:xfrm>
            <a:off x="457189" y="5038527"/>
            <a:ext cx="6860309" cy="639763"/>
          </a:xfrm>
          <a:prstGeom prst="rect">
            <a:avLst/>
          </a:prstGeom>
          <a:noFill/>
          <a:ln/>
        </p:spPr>
        <p:txBody>
          <a:bodyPr wrap="square" lIns="0" tIns="0" rIns="0" bIns="0" rtlCol="0" anchor="t"/>
          <a:lstStyle/>
          <a:p>
            <a:pPr marL="0" indent="0" algn="l">
              <a:lnSpc>
                <a:spcPct val="115000"/>
              </a:lnSpc>
              <a:spcAft>
                <a:spcPts val="1150"/>
              </a:spcAft>
              <a:buNone/>
            </a:pPr>
            <a:r>
              <a:rPr lang="en-US" sz="1400" dirty="0">
                <a:solidFill>
                  <a:srgbClr val="10201D"/>
                </a:solidFill>
                <a:latin typeface="IBM Plex Sans" pitchFamily="34" charset="0"/>
                <a:ea typeface="IBM Plex Sans" pitchFamily="34" charset="-122"/>
                <a:cs typeface="IBM Plex Sans" pitchFamily="34" charset="-120"/>
              </a:rPr>
              <a:t>Parsed once offline; retries and Pydantic validation protect the demo.</a:t>
            </a:r>
            <a:endParaRPr lang="en-US" sz="1400" dirty="0"/>
          </a:p>
          <a:p>
            <a:pPr marL="0" indent="0" algn="l">
              <a:lnSpc>
                <a:spcPct val="115000"/>
              </a:lnSpc>
              <a:buNone/>
            </a:pPr>
            <a:r>
              <a:rPr lang="en-US" sz="1400" b="1" dirty="0">
                <a:solidFill>
                  <a:srgbClr val="10201D"/>
                </a:solidFill>
                <a:latin typeface="IBM Plex Sans Bold" pitchFamily="34" charset="0"/>
                <a:ea typeface="IBM Plex Sans Bold" pitchFamily="34" charset="-122"/>
                <a:cs typeface="IBM Plex Sans Bold" pitchFamily="34" charset="-120"/>
              </a:rPr>
              <a:t>Alias matching:</a:t>
            </a:r>
            <a:r>
              <a:rPr lang="en-US" sz="1400" dirty="0">
                <a:solidFill>
                  <a:srgbClr val="10201D"/>
                </a:solidFill>
                <a:latin typeface="IBM Plex Sans" pitchFamily="34" charset="0"/>
                <a:ea typeface="IBM Plex Sans" pitchFamily="34" charset="-122"/>
                <a:cs typeface="IBM Plex Sans" pitchFamily="34" charset="-120"/>
              </a:rPr>
              <a:t> any slash-separated code matches the student's course.</a:t>
            </a:r>
            <a:endParaRPr lang="en-US" sz="1400" dirty="0"/>
          </a:p>
        </p:txBody>
      </p:sp>
      <p:sp>
        <p:nvSpPr>
          <p:cNvPr id="21" name="Shape 19"/>
          <p:cNvSpPr/>
          <p:nvPr/>
        </p:nvSpPr>
        <p:spPr>
          <a:xfrm>
            <a:off x="7469794" y="1443633"/>
            <a:ext cx="4264712" cy="4544219"/>
          </a:xfrm>
          <a:prstGeom prst="rect">
            <a:avLst/>
          </a:prstGeom>
          <a:solidFill>
            <a:srgbClr val="083C35"/>
          </a:solidFill>
          <a:ln/>
        </p:spPr>
        <p:txBody>
          <a:bodyPr/>
          <a:lstStyle/>
          <a:p>
            <a:endParaRPr lang="en-IN"/>
          </a:p>
        </p:txBody>
      </p:sp>
      <p:sp>
        <p:nvSpPr>
          <p:cNvPr id="22" name="Text 20"/>
          <p:cNvSpPr/>
          <p:nvPr/>
        </p:nvSpPr>
        <p:spPr>
          <a:xfrm>
            <a:off x="7672989" y="1655913"/>
            <a:ext cx="4061517"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EDITABLE JSON</a:t>
            </a:r>
            <a:endParaRPr lang="en-US" sz="1100" dirty="0"/>
          </a:p>
        </p:txBody>
      </p:sp>
      <p:sp>
        <p:nvSpPr>
          <p:cNvPr id="23" name="Shape 21"/>
          <p:cNvSpPr/>
          <p:nvPr/>
        </p:nvSpPr>
        <p:spPr>
          <a:xfrm>
            <a:off x="7672989" y="2062857"/>
            <a:ext cx="3858322" cy="2504083"/>
          </a:xfrm>
          <a:prstGeom prst="roundRect">
            <a:avLst>
              <a:gd name="adj" fmla="val 3621"/>
            </a:avLst>
          </a:prstGeom>
          <a:solidFill>
            <a:srgbClr val="FFFFFF"/>
          </a:solidFill>
          <a:ln/>
        </p:spPr>
        <p:txBody>
          <a:bodyPr/>
          <a:lstStyle/>
          <a:p>
            <a:endParaRPr lang="en-IN"/>
          </a:p>
        </p:txBody>
      </p:sp>
      <p:sp>
        <p:nvSpPr>
          <p:cNvPr id="24" name="Text 22"/>
          <p:cNvSpPr/>
          <p:nvPr/>
        </p:nvSpPr>
        <p:spPr>
          <a:xfrm>
            <a:off x="7932043" y="2278757"/>
            <a:ext cx="3340215" cy="2072283"/>
          </a:xfrm>
          <a:prstGeom prst="rect">
            <a:avLst/>
          </a:prstGeom>
          <a:noFill/>
          <a:ln/>
        </p:spPr>
        <p:txBody>
          <a:bodyPr wrap="square" lIns="0" tIns="0" rIns="0" bIns="0" rtlCol="0" anchor="t">
            <a:normAutofit/>
          </a:bodyPr>
          <a:lstStyle/>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a:t>
            </a:r>
            <a:endParaRPr lang="en-US" sz="1700" dirty="0"/>
          </a:p>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  "code": "CSL201",</a:t>
            </a:r>
            <a:endParaRPr lang="en-US" sz="1700" dirty="0"/>
          </a:p>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  "credits": 4,</a:t>
            </a:r>
            <a:endParaRPr lang="en-US" sz="1700" dirty="0"/>
          </a:p>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  "ltpc": "3-0-2-4",</a:t>
            </a:r>
            <a:endParaRPr lang="en-US" sz="1700" dirty="0"/>
          </a:p>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  "topics": ["Topic A"]</a:t>
            </a:r>
            <a:endParaRPr lang="en-US" sz="1700" dirty="0"/>
          </a:p>
          <a:p>
            <a:pPr marL="0" indent="0" algn="l">
              <a:lnSpc>
                <a:spcPct val="133000"/>
              </a:lnSpc>
              <a:buNone/>
            </a:pPr>
            <a:r>
              <a:rPr lang="en-US" sz="1700" dirty="0">
                <a:solidFill>
                  <a:srgbClr val="24292E"/>
                </a:solidFill>
                <a:latin typeface="Consolas" pitchFamily="34" charset="0"/>
                <a:ea typeface="Consolas" pitchFamily="34" charset="-122"/>
                <a:cs typeface="Consolas" pitchFamily="34" charset="-120"/>
              </a:rPr>
              <a:t>}</a:t>
            </a:r>
            <a:endParaRPr lang="en-US" sz="1700" dirty="0"/>
          </a:p>
        </p:txBody>
      </p:sp>
      <p:sp>
        <p:nvSpPr>
          <p:cNvPr id="25" name="Text 23"/>
          <p:cNvSpPr/>
          <p:nvPr/>
        </p:nvSpPr>
        <p:spPr>
          <a:xfrm>
            <a:off x="457189" y="6222738"/>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26" name="Rectangle 25">
            <a:extLst>
              <a:ext uri="{FF2B5EF4-FFF2-40B4-BE49-F238E27FC236}">
                <a16:creationId xmlns:a16="http://schemas.microsoft.com/office/drawing/2014/main" id="{CEB8085D-2BC3-5C7F-3B65-EDD8D0C57EB9}"/>
              </a:ext>
            </a:extLst>
          </p:cNvPr>
          <p:cNvSpPr/>
          <p:nvPr/>
        </p:nvSpPr>
        <p:spPr>
          <a:xfrm>
            <a:off x="11050438" y="6556075"/>
            <a:ext cx="1069675" cy="250089"/>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CONTROL PLANE</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Deterministic engine + Gemma 4 reasoning</a:t>
            </a:r>
            <a:endParaRPr lang="en-US" sz="3400" dirty="0"/>
          </a:p>
        </p:txBody>
      </p:sp>
      <p:sp>
        <p:nvSpPr>
          <p:cNvPr id="4" name="Shape 2"/>
          <p:cNvSpPr/>
          <p:nvPr/>
        </p:nvSpPr>
        <p:spPr>
          <a:xfrm>
            <a:off x="457189" y="1443633"/>
            <a:ext cx="5486263" cy="4017764"/>
          </a:xfrm>
          <a:prstGeom prst="rect">
            <a:avLst/>
          </a:prstGeom>
          <a:solidFill>
            <a:srgbClr val="FFFFFF"/>
          </a:solidFill>
          <a:ln/>
        </p:spPr>
        <p:txBody>
          <a:bodyPr/>
          <a:lstStyle/>
          <a:p>
            <a:endParaRPr lang="en-IN"/>
          </a:p>
        </p:txBody>
      </p:sp>
      <p:sp>
        <p:nvSpPr>
          <p:cNvPr id="5" name="Text 3"/>
          <p:cNvSpPr/>
          <p:nvPr/>
        </p:nvSpPr>
        <p:spPr>
          <a:xfrm>
            <a:off x="711182" y="1706713"/>
            <a:ext cx="523226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10201D"/>
                </a:solidFill>
                <a:latin typeface="IBM Plex Sans SemiBold" pitchFamily="34" charset="0"/>
                <a:ea typeface="IBM Plex Sans SemiBold" pitchFamily="34" charset="-122"/>
                <a:cs typeface="IBM Plex Sans SemiBold" pitchFamily="34" charset="-120"/>
              </a:rPr>
              <a:t>DETERMINISTIC ENGINE</a:t>
            </a:r>
            <a:endParaRPr lang="en-US" sz="1100" dirty="0"/>
          </a:p>
        </p:txBody>
      </p:sp>
      <p:sp>
        <p:nvSpPr>
          <p:cNvPr id="6" name="Text 4"/>
          <p:cNvSpPr/>
          <p:nvPr/>
        </p:nvSpPr>
        <p:spPr>
          <a:xfrm>
            <a:off x="711182" y="1986086"/>
            <a:ext cx="4978275" cy="402332"/>
          </a:xfrm>
          <a:prstGeom prst="rect">
            <a:avLst/>
          </a:prstGeom>
          <a:noFill/>
          <a:ln/>
        </p:spPr>
        <p:txBody>
          <a:bodyPr wrap="none" lIns="0" tIns="0" rIns="0" bIns="0" rtlCol="0" anchor="t"/>
          <a:lstStyle/>
          <a:p>
            <a:pPr marL="0" indent="0" algn="l">
              <a:lnSpc>
                <a:spcPct val="110000"/>
              </a:lnSpc>
              <a:buNone/>
            </a:pPr>
            <a:r>
              <a:rPr lang="en-US" sz="2400" dirty="0">
                <a:solidFill>
                  <a:srgbClr val="10201D"/>
                </a:solidFill>
                <a:latin typeface="IBM Plex Sans" pitchFamily="34" charset="0"/>
                <a:ea typeface="IBM Plex Sans" pitchFamily="34" charset="-122"/>
                <a:cs typeface="IBM Plex Sans" pitchFamily="34" charset="-120"/>
              </a:rPr>
              <a:t>Plain Python</a:t>
            </a:r>
            <a:endParaRPr lang="en-US" sz="2400" dirty="0"/>
          </a:p>
        </p:txBody>
      </p:sp>
      <p:sp>
        <p:nvSpPr>
          <p:cNvPr id="7" name="Text 5"/>
          <p:cNvSpPr/>
          <p:nvPr/>
        </p:nvSpPr>
        <p:spPr>
          <a:xfrm>
            <a:off x="711182" y="2558852"/>
            <a:ext cx="4978275" cy="138191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Alias joins</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Clash detection</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Date math</a:t>
            </a:r>
            <a:endParaRPr lang="en-US" sz="1700" dirty="0"/>
          </a:p>
          <a:p>
            <a:pPr marL="345440" indent="-345440" algn="l">
              <a:lnSpc>
                <a:spcPct val="115000"/>
              </a:lnSpc>
              <a:buSzPct val="100000"/>
              <a:buChar char="•"/>
            </a:pPr>
            <a:r>
              <a:rPr lang="en-US" sz="1700" dirty="0">
                <a:solidFill>
                  <a:srgbClr val="10201D"/>
                </a:solidFill>
                <a:latin typeface="IBM Plex Sans" pitchFamily="34" charset="0"/>
                <a:ea typeface="IBM Plex Sans" pitchFamily="34" charset="-122"/>
                <a:cs typeface="IBM Plex Sans" pitchFamily="34" charset="-120"/>
              </a:rPr>
              <a:t>Hour allocation and buffers</a:t>
            </a:r>
            <a:endParaRPr lang="en-US" sz="1700" dirty="0"/>
          </a:p>
        </p:txBody>
      </p:sp>
      <p:sp>
        <p:nvSpPr>
          <p:cNvPr id="8" name="Text 6"/>
          <p:cNvSpPr/>
          <p:nvPr/>
        </p:nvSpPr>
        <p:spPr>
          <a:xfrm>
            <a:off x="711182" y="4096282"/>
            <a:ext cx="5232269" cy="184348"/>
          </a:xfrm>
          <a:prstGeom prst="rect">
            <a:avLst/>
          </a:prstGeom>
          <a:noFill/>
          <a:ln/>
        </p:spPr>
        <p:txBody>
          <a:bodyPr wrap="none" lIns="0" tIns="0" rIns="0" bIns="0" rtlCol="0" anchor="t"/>
          <a:lstStyle/>
          <a:p>
            <a:pPr marL="0" indent="0" algn="l">
              <a:lnSpc>
                <a:spcPct val="110000"/>
              </a:lnSpc>
              <a:buNone/>
            </a:pPr>
            <a:r>
              <a:rPr lang="en-US" sz="1100" dirty="0">
                <a:solidFill>
                  <a:srgbClr val="10201D"/>
                </a:solidFill>
                <a:latin typeface="IBM Plex Sans" pitchFamily="34" charset="0"/>
                <a:ea typeface="IBM Plex Sans" pitchFamily="34" charset="-122"/>
                <a:cs typeface="IBM Plex Sans" pitchFamily="34" charset="-120"/>
              </a:rPr>
              <a:t>The LLM never does date math, as stated in the README.</a:t>
            </a:r>
            <a:endParaRPr lang="en-US" sz="1100" dirty="0"/>
          </a:p>
        </p:txBody>
      </p:sp>
      <p:sp>
        <p:nvSpPr>
          <p:cNvPr id="9" name="Shape 7"/>
          <p:cNvSpPr/>
          <p:nvPr/>
        </p:nvSpPr>
        <p:spPr>
          <a:xfrm>
            <a:off x="6248244" y="1443633"/>
            <a:ext cx="5486263" cy="4017764"/>
          </a:xfrm>
          <a:prstGeom prst="rect">
            <a:avLst/>
          </a:prstGeom>
          <a:solidFill>
            <a:srgbClr val="0A7C78"/>
          </a:solidFill>
          <a:ln/>
        </p:spPr>
        <p:txBody>
          <a:bodyPr/>
          <a:lstStyle/>
          <a:p>
            <a:endParaRPr lang="en-IN"/>
          </a:p>
        </p:txBody>
      </p:sp>
      <p:sp>
        <p:nvSpPr>
          <p:cNvPr id="10" name="Text 8"/>
          <p:cNvSpPr/>
          <p:nvPr/>
        </p:nvSpPr>
        <p:spPr>
          <a:xfrm>
            <a:off x="6502237" y="1706713"/>
            <a:ext cx="523226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REASONING LAYER</a:t>
            </a:r>
            <a:endParaRPr lang="en-US" sz="1100" dirty="0"/>
          </a:p>
        </p:txBody>
      </p:sp>
      <p:sp>
        <p:nvSpPr>
          <p:cNvPr id="11" name="Text 9"/>
          <p:cNvSpPr/>
          <p:nvPr/>
        </p:nvSpPr>
        <p:spPr>
          <a:xfrm>
            <a:off x="6502237" y="1986086"/>
            <a:ext cx="4978275" cy="402332"/>
          </a:xfrm>
          <a:prstGeom prst="rect">
            <a:avLst/>
          </a:prstGeom>
          <a:noFill/>
          <a:ln/>
        </p:spPr>
        <p:txBody>
          <a:bodyPr wrap="none" lIns="0" tIns="0" rIns="0" bIns="0" rtlCol="0" anchor="t"/>
          <a:lstStyle/>
          <a:p>
            <a:pPr marL="0" indent="0" algn="l">
              <a:lnSpc>
                <a:spcPct val="110000"/>
              </a:lnSpc>
              <a:buNone/>
            </a:pPr>
            <a:r>
              <a:rPr lang="en-US" sz="2400" dirty="0">
                <a:solidFill>
                  <a:srgbClr val="FFFFFF"/>
                </a:solidFill>
                <a:latin typeface="IBM Plex Sans" pitchFamily="34" charset="0"/>
                <a:ea typeface="IBM Plex Sans" pitchFamily="34" charset="-122"/>
                <a:cs typeface="IBM Plex Sans" pitchFamily="34" charset="-120"/>
              </a:rPr>
              <a:t>Gemma 4</a:t>
            </a:r>
            <a:endParaRPr lang="en-US" sz="2400" dirty="0"/>
          </a:p>
        </p:txBody>
      </p:sp>
      <p:sp>
        <p:nvSpPr>
          <p:cNvPr id="12" name="Text 10"/>
          <p:cNvSpPr/>
          <p:nvPr/>
        </p:nvSpPr>
        <p:spPr>
          <a:xfrm>
            <a:off x="6502237" y="2558852"/>
            <a:ext cx="4978275" cy="1381919"/>
          </a:xfrm>
          <a:prstGeom prst="rect">
            <a:avLst/>
          </a:prstGeom>
          <a:noFill/>
          <a:ln/>
        </p:spPr>
        <p:txBody>
          <a:bodyPr wrap="square" lIns="0" tIns="0" rIns="0" bIns="0" rtlCol="0" anchor="t">
            <a:normAutofit/>
          </a:bodyPr>
          <a:lstStyle/>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Topic difficulty</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Plan reasoning</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Material matching</a:t>
            </a:r>
            <a:endParaRPr lang="en-US" sz="1700" dirty="0"/>
          </a:p>
          <a:p>
            <a:pPr marL="345440" indent="-345440" algn="l">
              <a:lnSpc>
                <a:spcPct val="115000"/>
              </a:lnSpc>
              <a:buSzPct val="100000"/>
              <a:buChar char="•"/>
            </a:pPr>
            <a:r>
              <a:rPr lang="en-US" sz="1700" dirty="0">
                <a:solidFill>
                  <a:srgbClr val="FFFFFF"/>
                </a:solidFill>
                <a:latin typeface="IBM Plex Sans" pitchFamily="34" charset="0"/>
                <a:ea typeface="IBM Plex Sans" pitchFamily="34" charset="-122"/>
                <a:cs typeface="IBM Plex Sans" pitchFamily="34" charset="-120"/>
              </a:rPr>
              <a:t>Coverage gaps</a:t>
            </a:r>
            <a:endParaRPr lang="en-US" sz="1700" dirty="0"/>
          </a:p>
        </p:txBody>
      </p:sp>
      <p:sp>
        <p:nvSpPr>
          <p:cNvPr id="13" name="Text 11"/>
          <p:cNvSpPr/>
          <p:nvPr/>
        </p:nvSpPr>
        <p:spPr>
          <a:xfrm>
            <a:off x="6502237" y="4096282"/>
            <a:ext cx="5232269" cy="184348"/>
          </a:xfrm>
          <a:prstGeom prst="rect">
            <a:avLst/>
          </a:prstGeom>
          <a:noFill/>
          <a:ln/>
        </p:spPr>
        <p:txBody>
          <a:bodyPr wrap="none" lIns="0" tIns="0" rIns="0" bIns="0" rtlCol="0" anchor="t"/>
          <a:lstStyle/>
          <a:p>
            <a:pPr marL="0" indent="0" algn="l">
              <a:lnSpc>
                <a:spcPct val="110000"/>
              </a:lnSpc>
              <a:buNone/>
            </a:pPr>
            <a:r>
              <a:rPr lang="en-US" sz="1100" dirty="0">
                <a:solidFill>
                  <a:srgbClr val="FFFFFF"/>
                </a:solidFill>
                <a:latin typeface="IBM Plex Sans" pitchFamily="34" charset="0"/>
                <a:ea typeface="IBM Plex Sans" pitchFamily="34" charset="-122"/>
                <a:cs typeface="IBM Plex Sans" pitchFamily="34" charset="-120"/>
              </a:rPr>
              <a:t>JSON outputs are verified in code before reaching students.</a:t>
            </a:r>
            <a:endParaRPr lang="en-US" sz="1100" dirty="0"/>
          </a:p>
        </p:txBody>
      </p:sp>
      <p:sp>
        <p:nvSpPr>
          <p:cNvPr id="14" name="Text 12"/>
          <p:cNvSpPr/>
          <p:nvPr/>
        </p:nvSpPr>
        <p:spPr>
          <a:xfrm>
            <a:off x="457189" y="5696474"/>
            <a:ext cx="11734506" cy="297855"/>
          </a:xfrm>
          <a:prstGeom prst="rect">
            <a:avLst/>
          </a:prstGeom>
          <a:noFill/>
          <a:ln/>
        </p:spPr>
        <p:txBody>
          <a:bodyPr wrap="none" lIns="0" tIns="0" rIns="0" bIns="0" rtlCol="0" anchor="t"/>
          <a:lstStyle/>
          <a:p>
            <a:r>
              <a:rPr lang="en-US" sz="1700" dirty="0">
                <a:solidFill>
                  <a:srgbClr val="10201D"/>
                </a:solidFill>
                <a:highlight>
                  <a:srgbClr val="FFFFFF"/>
                </a:highlight>
                <a:latin typeface="Consolas" pitchFamily="34" charset="0"/>
                <a:ea typeface="Consolas" pitchFamily="34" charset="-122"/>
                <a:cs typeface="Consolas" pitchFamily="34" charset="-120"/>
              </a:rPr>
              <a:t>/</a:t>
            </a:r>
            <a:r>
              <a:rPr lang="en-US" sz="1700" dirty="0" err="1">
                <a:solidFill>
                  <a:srgbClr val="10201D"/>
                </a:solidFill>
                <a:highlight>
                  <a:srgbClr val="FFFFFF"/>
                </a:highlight>
                <a:latin typeface="Consolas" pitchFamily="34" charset="0"/>
                <a:ea typeface="Consolas" pitchFamily="34" charset="-122"/>
                <a:cs typeface="Consolas" pitchFamily="34" charset="-120"/>
              </a:rPr>
              <a:t>api</a:t>
            </a:r>
            <a:r>
              <a:rPr lang="en-US" sz="1700" dirty="0">
                <a:solidFill>
                  <a:srgbClr val="10201D"/>
                </a:solidFill>
                <a:highlight>
                  <a:srgbClr val="FFFFFF"/>
                </a:highlight>
                <a:latin typeface="Consolas" pitchFamily="34" charset="0"/>
                <a:ea typeface="Consolas" pitchFamily="34" charset="-122"/>
                <a:cs typeface="Consolas" pitchFamily="34" charset="-120"/>
              </a:rPr>
              <a:t>/timetable/upload · </a:t>
            </a:r>
            <a:r>
              <a:rPr lang="en-IN" dirty="0">
                <a:highlight>
                  <a:srgbClr val="FFFFFF"/>
                </a:highlight>
              </a:rPr>
              <a:t>/</a:t>
            </a:r>
            <a:r>
              <a:rPr lang="en-IN" dirty="0" err="1">
                <a:highlight>
                  <a:srgbClr val="FFFFFF"/>
                </a:highlight>
              </a:rPr>
              <a:t>api</a:t>
            </a:r>
            <a:r>
              <a:rPr lang="en-IN" dirty="0">
                <a:highlight>
                  <a:srgbClr val="FFFFFF"/>
                </a:highlight>
              </a:rPr>
              <a:t>/courses/scope </a:t>
            </a:r>
            <a:r>
              <a:rPr lang="en-US" sz="1700" dirty="0">
                <a:solidFill>
                  <a:srgbClr val="10201D"/>
                </a:solidFill>
                <a:highlight>
                  <a:srgbClr val="FFFFFF"/>
                </a:highlight>
                <a:latin typeface="Consolas" pitchFamily="34" charset="0"/>
                <a:ea typeface="Consolas" pitchFamily="34" charset="-122"/>
                <a:cs typeface="Consolas" pitchFamily="34" charset="-120"/>
              </a:rPr>
              <a:t>· /api/plan/generate · /</a:t>
            </a:r>
            <a:r>
              <a:rPr lang="en-US" sz="1700" dirty="0" err="1">
                <a:solidFill>
                  <a:srgbClr val="10201D"/>
                </a:solidFill>
                <a:highlight>
                  <a:srgbClr val="FFFFFF"/>
                </a:highlight>
                <a:latin typeface="Consolas" pitchFamily="34" charset="0"/>
                <a:ea typeface="Consolas" pitchFamily="34" charset="-122"/>
                <a:cs typeface="Consolas" pitchFamily="34" charset="-120"/>
              </a:rPr>
              <a:t>api</a:t>
            </a:r>
            <a:r>
              <a:rPr lang="en-US" sz="1700" dirty="0">
                <a:solidFill>
                  <a:srgbClr val="10201D"/>
                </a:solidFill>
                <a:highlight>
                  <a:srgbClr val="FFFFFF"/>
                </a:highlight>
                <a:latin typeface="Consolas" pitchFamily="34" charset="0"/>
                <a:ea typeface="Consolas" pitchFamily="34" charset="-122"/>
                <a:cs typeface="Consolas" pitchFamily="34" charset="-120"/>
              </a:rPr>
              <a:t>/timetable/personal · /api/chat</a:t>
            </a:r>
            <a:endParaRPr lang="en-US" sz="1700" dirty="0"/>
          </a:p>
        </p:txBody>
      </p:sp>
      <p:sp>
        <p:nvSpPr>
          <p:cNvPr id="15" name="Text 13"/>
          <p:cNvSpPr/>
          <p:nvPr/>
        </p:nvSpPr>
        <p:spPr>
          <a:xfrm>
            <a:off x="457189" y="6222738"/>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RAG chatbot answers with citations from course materials · MentalPlanner · Built with Gemma 4 | Open Source (MIT)</a:t>
            </a:r>
            <a:endParaRPr lang="en-US" sz="1100" dirty="0"/>
          </a:p>
        </p:txBody>
      </p:sp>
      <p:sp>
        <p:nvSpPr>
          <p:cNvPr id="16" name="Rectangle 15">
            <a:extLst>
              <a:ext uri="{FF2B5EF4-FFF2-40B4-BE49-F238E27FC236}">
                <a16:creationId xmlns:a16="http://schemas.microsoft.com/office/drawing/2014/main" id="{504A1BDF-459C-08A0-17E6-2E9555D89B90}"/>
              </a:ext>
            </a:extLst>
          </p:cNvPr>
          <p:cNvSpPr/>
          <p:nvPr/>
        </p:nvSpPr>
        <p:spPr>
          <a:xfrm>
            <a:off x="11059064" y="6531315"/>
            <a:ext cx="1052423" cy="301925"/>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90411"/>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Gemma 4 at the core of every intelligent step</a:t>
            </a:r>
            <a:endParaRPr lang="en-US" sz="3400" dirty="0"/>
          </a:p>
        </p:txBody>
      </p:sp>
      <p:pic>
        <p:nvPicPr>
          <p:cNvPr id="3" name="Image 0" descr="preencoded.png"/>
          <p:cNvPicPr>
            <a:picLocks noChangeAspect="1"/>
          </p:cNvPicPr>
          <p:nvPr/>
        </p:nvPicPr>
        <p:blipFill>
          <a:blip r:embed="rId3"/>
          <a:stretch>
            <a:fillRect/>
          </a:stretch>
        </p:blipFill>
        <p:spPr>
          <a:xfrm>
            <a:off x="457189" y="1397484"/>
            <a:ext cx="539736" cy="539750"/>
          </a:xfrm>
          <a:prstGeom prst="rect">
            <a:avLst/>
          </a:prstGeom>
        </p:spPr>
      </p:pic>
      <p:sp>
        <p:nvSpPr>
          <p:cNvPr id="4" name="Text 1"/>
          <p:cNvSpPr/>
          <p:nvPr/>
        </p:nvSpPr>
        <p:spPr>
          <a:xfrm>
            <a:off x="1212820" y="1407783"/>
            <a:ext cx="292727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Structured extraction</a:t>
            </a:r>
            <a:endParaRPr lang="en-US" sz="1800" dirty="0"/>
          </a:p>
        </p:txBody>
      </p:sp>
      <p:sp>
        <p:nvSpPr>
          <p:cNvPr id="5" name="Text 2"/>
          <p:cNvSpPr/>
          <p:nvPr/>
        </p:nvSpPr>
        <p:spPr>
          <a:xfrm>
            <a:off x="1212820" y="1889847"/>
            <a:ext cx="2927277"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Strict JSON, schemas, validation, and retries.</a:t>
            </a:r>
            <a:endParaRPr lang="en-US" sz="1700" dirty="0"/>
          </a:p>
        </p:txBody>
      </p:sp>
      <p:pic>
        <p:nvPicPr>
          <p:cNvPr id="6" name="Image 1" descr="preencoded.png"/>
          <p:cNvPicPr>
            <a:picLocks noChangeAspect="1"/>
          </p:cNvPicPr>
          <p:nvPr/>
        </p:nvPicPr>
        <p:blipFill>
          <a:blip r:embed="rId4"/>
          <a:stretch>
            <a:fillRect/>
          </a:stretch>
        </p:blipFill>
        <p:spPr>
          <a:xfrm>
            <a:off x="4292493" y="1397484"/>
            <a:ext cx="539736" cy="539750"/>
          </a:xfrm>
          <a:prstGeom prst="rect">
            <a:avLst/>
          </a:prstGeom>
        </p:spPr>
      </p:pic>
      <p:sp>
        <p:nvSpPr>
          <p:cNvPr id="7" name="Text 3"/>
          <p:cNvSpPr/>
          <p:nvPr/>
        </p:nvSpPr>
        <p:spPr>
          <a:xfrm>
            <a:off x="5048124" y="1407783"/>
            <a:ext cx="28510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Topic decomposition</a:t>
            </a:r>
            <a:endParaRPr lang="en-US" sz="1800" dirty="0"/>
          </a:p>
        </p:txBody>
      </p:sp>
      <p:sp>
        <p:nvSpPr>
          <p:cNvPr id="8" name="Text 4"/>
          <p:cNvSpPr/>
          <p:nvPr/>
        </p:nvSpPr>
        <p:spPr>
          <a:xfrm>
            <a:off x="5048124" y="1889847"/>
            <a:ext cx="2851079"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Study-plan reasoning for each course.</a:t>
            </a:r>
            <a:endParaRPr lang="en-US" sz="1700" dirty="0"/>
          </a:p>
        </p:txBody>
      </p:sp>
      <p:pic>
        <p:nvPicPr>
          <p:cNvPr id="9" name="Image 2" descr="preencoded.png"/>
          <p:cNvPicPr>
            <a:picLocks noChangeAspect="1"/>
          </p:cNvPicPr>
          <p:nvPr/>
        </p:nvPicPr>
        <p:blipFill>
          <a:blip r:embed="rId5"/>
          <a:stretch>
            <a:fillRect/>
          </a:stretch>
        </p:blipFill>
        <p:spPr>
          <a:xfrm>
            <a:off x="8051599" y="1397484"/>
            <a:ext cx="539736" cy="539750"/>
          </a:xfrm>
          <a:prstGeom prst="rect">
            <a:avLst/>
          </a:prstGeom>
        </p:spPr>
      </p:pic>
      <p:sp>
        <p:nvSpPr>
          <p:cNvPr id="10" name="Text 5"/>
          <p:cNvSpPr/>
          <p:nvPr/>
        </p:nvSpPr>
        <p:spPr>
          <a:xfrm>
            <a:off x="8807230" y="1407783"/>
            <a:ext cx="292727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Material matching</a:t>
            </a:r>
            <a:endParaRPr lang="en-US" sz="1800" dirty="0"/>
          </a:p>
        </p:txBody>
      </p:sp>
      <p:sp>
        <p:nvSpPr>
          <p:cNvPr id="11" name="Text 6"/>
          <p:cNvSpPr/>
          <p:nvPr/>
        </p:nvSpPr>
        <p:spPr>
          <a:xfrm>
            <a:off x="8807230" y="1889847"/>
            <a:ext cx="2927277"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Coverage-gap detection across resources.</a:t>
            </a:r>
            <a:endParaRPr lang="en-US" sz="1700" dirty="0"/>
          </a:p>
        </p:txBody>
      </p:sp>
      <p:pic>
        <p:nvPicPr>
          <p:cNvPr id="12" name="Image 3" descr="preencoded.png"/>
          <p:cNvPicPr>
            <a:picLocks noChangeAspect="1"/>
          </p:cNvPicPr>
          <p:nvPr/>
        </p:nvPicPr>
        <p:blipFill>
          <a:blip r:embed="rId6"/>
          <a:stretch>
            <a:fillRect/>
          </a:stretch>
        </p:blipFill>
        <p:spPr>
          <a:xfrm>
            <a:off x="457189" y="3088569"/>
            <a:ext cx="539736" cy="539750"/>
          </a:xfrm>
          <a:prstGeom prst="rect">
            <a:avLst/>
          </a:prstGeom>
        </p:spPr>
      </p:pic>
      <p:sp>
        <p:nvSpPr>
          <p:cNvPr id="13" name="Text 7"/>
          <p:cNvSpPr/>
          <p:nvPr/>
        </p:nvSpPr>
        <p:spPr>
          <a:xfrm>
            <a:off x="1212820" y="3098867"/>
            <a:ext cx="292727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Grounded RAG</a:t>
            </a:r>
            <a:endParaRPr lang="en-US" sz="1800" dirty="0"/>
          </a:p>
        </p:txBody>
      </p:sp>
      <p:sp>
        <p:nvSpPr>
          <p:cNvPr id="14" name="Text 8"/>
          <p:cNvSpPr/>
          <p:nvPr/>
        </p:nvSpPr>
        <p:spPr>
          <a:xfrm>
            <a:off x="1212820" y="3580932"/>
            <a:ext cx="2927277"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Refuses to invent material.</a:t>
            </a:r>
            <a:endParaRPr lang="en-US" sz="1700" dirty="0"/>
          </a:p>
        </p:txBody>
      </p:sp>
      <p:pic>
        <p:nvPicPr>
          <p:cNvPr id="15" name="Image 4" descr="preencoded.png"/>
          <p:cNvPicPr>
            <a:picLocks noChangeAspect="1"/>
          </p:cNvPicPr>
          <p:nvPr/>
        </p:nvPicPr>
        <p:blipFill>
          <a:blip r:embed="rId7"/>
          <a:stretch>
            <a:fillRect/>
          </a:stretch>
        </p:blipFill>
        <p:spPr>
          <a:xfrm>
            <a:off x="4292493" y="3088569"/>
            <a:ext cx="539736" cy="539750"/>
          </a:xfrm>
          <a:prstGeom prst="rect">
            <a:avLst/>
          </a:prstGeom>
        </p:spPr>
      </p:pic>
      <p:sp>
        <p:nvSpPr>
          <p:cNvPr id="16" name="Text 9"/>
          <p:cNvSpPr/>
          <p:nvPr/>
        </p:nvSpPr>
        <p:spPr>
          <a:xfrm>
            <a:off x="5048124" y="3098867"/>
            <a:ext cx="2851079"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Tool calling</a:t>
            </a:r>
            <a:endParaRPr lang="en-US" sz="1800" dirty="0"/>
          </a:p>
        </p:txBody>
      </p:sp>
      <p:sp>
        <p:nvSpPr>
          <p:cNvPr id="17" name="Text 10"/>
          <p:cNvSpPr/>
          <p:nvPr/>
        </p:nvSpPr>
        <p:spPr>
          <a:xfrm>
            <a:off x="5048124" y="3580932"/>
            <a:ext cx="2851079" cy="893564"/>
          </a:xfrm>
          <a:prstGeom prst="rect">
            <a:avLst/>
          </a:prstGeom>
          <a:noFill/>
          <a:ln/>
        </p:spPr>
        <p:txBody>
          <a:bodyPr wrap="square" lIns="0" tIns="0" rIns="0" bIns="0" rtlCol="0" anchor="t">
            <a:normAutofit fontScale="85000" lnSpcReduction="10000"/>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search_youtube, </a:t>
            </a:r>
          </a:p>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get_exam_schedule, web_search, generate_study_plan, query_course_rag.</a:t>
            </a:r>
            <a:endParaRPr lang="en-US" sz="1700" dirty="0"/>
          </a:p>
        </p:txBody>
      </p:sp>
      <p:pic>
        <p:nvPicPr>
          <p:cNvPr id="18" name="Image 5" descr="preencoded.png"/>
          <p:cNvPicPr>
            <a:picLocks noChangeAspect="1"/>
          </p:cNvPicPr>
          <p:nvPr/>
        </p:nvPicPr>
        <p:blipFill>
          <a:blip r:embed="rId8"/>
          <a:stretch>
            <a:fillRect/>
          </a:stretch>
        </p:blipFill>
        <p:spPr>
          <a:xfrm>
            <a:off x="8051599" y="3088569"/>
            <a:ext cx="539736" cy="539750"/>
          </a:xfrm>
          <a:prstGeom prst="rect">
            <a:avLst/>
          </a:prstGeom>
        </p:spPr>
      </p:pic>
      <p:sp>
        <p:nvSpPr>
          <p:cNvPr id="19" name="Text 11"/>
          <p:cNvSpPr/>
          <p:nvPr/>
        </p:nvSpPr>
        <p:spPr>
          <a:xfrm>
            <a:off x="8807230" y="3098867"/>
            <a:ext cx="2927277"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SKILL.md</a:t>
            </a:r>
            <a:endParaRPr lang="en-US" sz="1800" dirty="0"/>
          </a:p>
        </p:txBody>
      </p:sp>
      <p:sp>
        <p:nvSpPr>
          <p:cNvPr id="20" name="Text 12"/>
          <p:cNvSpPr/>
          <p:nvPr/>
        </p:nvSpPr>
        <p:spPr>
          <a:xfrm>
            <a:off x="8807230" y="3580932"/>
            <a:ext cx="2927277"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Capabilities, inputs, outputs, and tools.</a:t>
            </a:r>
            <a:endParaRPr lang="en-US" sz="1700" dirty="0"/>
          </a:p>
        </p:txBody>
      </p:sp>
      <p:sp>
        <p:nvSpPr>
          <p:cNvPr id="21" name="Shape 13"/>
          <p:cNvSpPr/>
          <p:nvPr/>
        </p:nvSpPr>
        <p:spPr>
          <a:xfrm>
            <a:off x="457189" y="4848920"/>
            <a:ext cx="11277318" cy="551855"/>
          </a:xfrm>
          <a:prstGeom prst="rect">
            <a:avLst/>
          </a:prstGeom>
          <a:solidFill>
            <a:srgbClr val="083C35"/>
          </a:solidFill>
          <a:ln/>
        </p:spPr>
        <p:txBody>
          <a:bodyPr/>
          <a:lstStyle/>
          <a:p>
            <a:endParaRPr lang="en-IN"/>
          </a:p>
        </p:txBody>
      </p:sp>
      <p:sp>
        <p:nvSpPr>
          <p:cNvPr id="22" name="Text 14"/>
          <p:cNvSpPr/>
          <p:nvPr/>
        </p:nvSpPr>
        <p:spPr>
          <a:xfrm>
            <a:off x="927077" y="4982397"/>
            <a:ext cx="10807430" cy="297855"/>
          </a:xfrm>
          <a:prstGeom prst="rect">
            <a:avLst/>
          </a:prstGeom>
          <a:noFill/>
          <a:ln/>
        </p:spPr>
        <p:txBody>
          <a:bodyPr wrap="none" lIns="0" tIns="0" rIns="0" bIns="0" rtlCol="0" anchor="t"/>
          <a:lstStyle/>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Open models protect student privacy, avoid lock-in, run on campus, and stay reproducible</a:t>
            </a:r>
            <a:endParaRPr lang="en-US" sz="1700" dirty="0"/>
          </a:p>
        </p:txBody>
      </p:sp>
      <p:sp>
        <p:nvSpPr>
          <p:cNvPr id="23" name="Text 15"/>
          <p:cNvSpPr/>
          <p:nvPr/>
        </p:nvSpPr>
        <p:spPr>
          <a:xfrm>
            <a:off x="457189" y="5635661"/>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pic>
        <p:nvPicPr>
          <p:cNvPr id="27" name="Picture 26">
            <a:extLst>
              <a:ext uri="{FF2B5EF4-FFF2-40B4-BE49-F238E27FC236}">
                <a16:creationId xmlns:a16="http://schemas.microsoft.com/office/drawing/2014/main" id="{FBE65467-D4B9-CA28-6CB4-1835FAD0D499}"/>
              </a:ext>
            </a:extLst>
          </p:cNvPr>
          <p:cNvPicPr>
            <a:picLocks noChangeAspect="1"/>
          </p:cNvPicPr>
          <p:nvPr/>
        </p:nvPicPr>
        <p:blipFill>
          <a:blip r:embed="rId9"/>
          <a:stretch>
            <a:fillRect/>
          </a:stretch>
        </p:blipFill>
        <p:spPr>
          <a:xfrm>
            <a:off x="11031701" y="6468383"/>
            <a:ext cx="1066892" cy="3170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66280"/>
            <a:ext cx="11734506"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A7C78"/>
                </a:solidFill>
                <a:latin typeface="IBM Plex Sans SemiBold" pitchFamily="34" charset="0"/>
                <a:ea typeface="IBM Plex Sans SemiBold" pitchFamily="34" charset="-122"/>
                <a:cs typeface="IBM Plex Sans SemiBold" pitchFamily="34" charset="-120"/>
              </a:rPr>
              <a:t>THE ROADMAP</a:t>
            </a:r>
            <a:endParaRPr lang="en-US" sz="1100" dirty="0"/>
          </a:p>
        </p:txBody>
      </p:sp>
      <p:sp>
        <p:nvSpPr>
          <p:cNvPr id="3" name="Text 1"/>
          <p:cNvSpPr/>
          <p:nvPr/>
        </p:nvSpPr>
        <p:spPr>
          <a:xfrm>
            <a:off x="457189" y="765147"/>
            <a:ext cx="11277318" cy="457696"/>
          </a:xfrm>
          <a:prstGeom prst="rect">
            <a:avLst/>
          </a:prstGeom>
          <a:noFill/>
          <a:ln/>
        </p:spPr>
        <p:txBody>
          <a:bodyPr wrap="none" lIns="0" tIns="0" rIns="0" bIns="0" rtlCol="0" anchor="t"/>
          <a:lstStyle/>
          <a:p>
            <a:pPr marL="0" indent="0" algn="l">
              <a:lnSpc>
                <a:spcPct val="88000"/>
              </a:lnSpc>
              <a:buNone/>
            </a:pPr>
            <a:r>
              <a:rPr lang="en-US" sz="3400" b="1" kern="100" spc="-68" dirty="0">
                <a:solidFill>
                  <a:srgbClr val="10201D"/>
                </a:solidFill>
                <a:latin typeface="Sora Bold" pitchFamily="34" charset="0"/>
                <a:ea typeface="Sora Bold" pitchFamily="34" charset="-122"/>
                <a:cs typeface="Sora Bold" pitchFamily="34" charset="-120"/>
              </a:rPr>
              <a:t>From one branch to every campus</a:t>
            </a:r>
            <a:endParaRPr lang="en-US" sz="3400" dirty="0"/>
          </a:p>
        </p:txBody>
      </p:sp>
      <p:sp>
        <p:nvSpPr>
          <p:cNvPr id="4" name="Shape 2"/>
          <p:cNvSpPr/>
          <p:nvPr/>
        </p:nvSpPr>
        <p:spPr>
          <a:xfrm>
            <a:off x="457189" y="1443633"/>
            <a:ext cx="1142078" cy="1160859"/>
          </a:xfrm>
          <a:prstGeom prst="roundRect">
            <a:avLst>
              <a:gd name="adj" fmla="val 7940"/>
            </a:avLst>
          </a:prstGeom>
          <a:solidFill>
            <a:srgbClr val="E5E9DA"/>
          </a:solidFill>
          <a:ln w="12700">
            <a:solidFill>
              <a:srgbClr val="CBCFC0"/>
            </a:solidFill>
            <a:prstDash val="solid"/>
          </a:ln>
        </p:spPr>
        <p:txBody>
          <a:bodyPr/>
          <a:lstStyle/>
          <a:p>
            <a:endParaRPr lang="en-IN"/>
          </a:p>
        </p:txBody>
      </p:sp>
      <p:sp>
        <p:nvSpPr>
          <p:cNvPr id="5" name="Text 3"/>
          <p:cNvSpPr/>
          <p:nvPr/>
        </p:nvSpPr>
        <p:spPr>
          <a:xfrm>
            <a:off x="876477" y="1863130"/>
            <a:ext cx="303503" cy="321766"/>
          </a:xfrm>
          <a:prstGeom prst="rect">
            <a:avLst/>
          </a:prstGeom>
          <a:noFill/>
          <a:ln/>
        </p:spPr>
        <p:txBody>
          <a:bodyPr wrap="none" lIns="0" tIns="0" rIns="0" bIns="0" rtlCol="0" anchor="ctr"/>
          <a:lstStyle/>
          <a:p>
            <a:pPr marL="0" indent="0" algn="ctr">
              <a:lnSpc>
                <a:spcPct val="100000"/>
              </a:lnSpc>
              <a:buNone/>
            </a:pPr>
            <a:r>
              <a:rPr lang="en-US" sz="2400" b="1" kern="100" spc="-42" dirty="0">
                <a:solidFill>
                  <a:srgbClr val="10201D"/>
                </a:solidFill>
                <a:latin typeface="Sora Bold" pitchFamily="34" charset="0"/>
                <a:ea typeface="Sora Bold" pitchFamily="34" charset="-122"/>
                <a:cs typeface="Sora Bold" pitchFamily="34" charset="-120"/>
              </a:rPr>
              <a:t>1</a:t>
            </a:r>
            <a:endParaRPr lang="en-US" sz="2400" dirty="0"/>
          </a:p>
        </p:txBody>
      </p:sp>
      <p:sp>
        <p:nvSpPr>
          <p:cNvPr id="6" name="Text 4"/>
          <p:cNvSpPr/>
          <p:nvPr/>
        </p:nvSpPr>
        <p:spPr>
          <a:xfrm>
            <a:off x="1815162" y="1659533"/>
            <a:ext cx="5278901" cy="301724"/>
          </a:xfrm>
          <a:prstGeom prst="rect">
            <a:avLst/>
          </a:prstGeom>
          <a:noFill/>
          <a:ln/>
        </p:spPr>
        <p:txBody>
          <a:bodyPr wrap="none" lIns="0" tIns="0" rIns="0" bIns="0" rtlCol="0" anchor="t"/>
          <a:lstStyle/>
          <a:p>
            <a:pPr marL="0" indent="0" algn="l">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Now</a:t>
            </a:r>
            <a:endParaRPr lang="en-US" sz="1800" dirty="0"/>
          </a:p>
        </p:txBody>
      </p:sp>
      <p:sp>
        <p:nvSpPr>
          <p:cNvPr id="7" name="Text 5"/>
          <p:cNvSpPr/>
          <p:nvPr/>
        </p:nvSpPr>
        <p:spPr>
          <a:xfrm>
            <a:off x="1815162" y="2090737"/>
            <a:ext cx="5278901" cy="297855"/>
          </a:xfrm>
          <a:prstGeom prst="rect">
            <a:avLst/>
          </a:prstGeom>
          <a:noFill/>
          <a:ln/>
        </p:spPr>
        <p:txBody>
          <a:bodyPr wrap="none" lIns="0" tIns="0" rIns="0" bIns="0" rtlCol="0" anchor="t"/>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CSE Semester III, mid-sem, core pipeline, chatbot.</a:t>
            </a:r>
            <a:endParaRPr lang="en-US" sz="1700" dirty="0"/>
          </a:p>
        </p:txBody>
      </p:sp>
      <p:sp>
        <p:nvSpPr>
          <p:cNvPr id="8" name="Shape 6"/>
          <p:cNvSpPr/>
          <p:nvPr/>
        </p:nvSpPr>
        <p:spPr>
          <a:xfrm>
            <a:off x="1707214" y="2592586"/>
            <a:ext cx="5494795" cy="14288"/>
          </a:xfrm>
          <a:prstGeom prst="roundRect">
            <a:avLst>
              <a:gd name="adj" fmla="val 49997"/>
            </a:avLst>
          </a:prstGeom>
          <a:solidFill>
            <a:srgbClr val="CBCFC0"/>
          </a:solidFill>
          <a:ln/>
        </p:spPr>
        <p:txBody>
          <a:bodyPr/>
          <a:lstStyle/>
          <a:p>
            <a:endParaRPr lang="en-IN"/>
          </a:p>
        </p:txBody>
      </p:sp>
      <p:sp>
        <p:nvSpPr>
          <p:cNvPr id="9" name="Shape 7"/>
          <p:cNvSpPr/>
          <p:nvPr/>
        </p:nvSpPr>
        <p:spPr>
          <a:xfrm>
            <a:off x="457189" y="2712442"/>
            <a:ext cx="2284256" cy="1458714"/>
          </a:xfrm>
          <a:prstGeom prst="roundRect">
            <a:avLst>
              <a:gd name="adj" fmla="val 6216"/>
            </a:avLst>
          </a:prstGeom>
          <a:solidFill>
            <a:srgbClr val="E5E9DA"/>
          </a:solidFill>
          <a:ln w="12700">
            <a:solidFill>
              <a:srgbClr val="CBCFC0"/>
            </a:solidFill>
            <a:prstDash val="solid"/>
          </a:ln>
        </p:spPr>
        <p:txBody>
          <a:bodyPr/>
          <a:lstStyle/>
          <a:p>
            <a:endParaRPr lang="en-IN"/>
          </a:p>
        </p:txBody>
      </p:sp>
      <p:sp>
        <p:nvSpPr>
          <p:cNvPr id="10" name="Text 8"/>
          <p:cNvSpPr/>
          <p:nvPr/>
        </p:nvSpPr>
        <p:spPr>
          <a:xfrm>
            <a:off x="1447565" y="3280866"/>
            <a:ext cx="303503" cy="321766"/>
          </a:xfrm>
          <a:prstGeom prst="rect">
            <a:avLst/>
          </a:prstGeom>
          <a:noFill/>
          <a:ln/>
        </p:spPr>
        <p:txBody>
          <a:bodyPr wrap="none" lIns="0" tIns="0" rIns="0" bIns="0" rtlCol="0" anchor="ctr"/>
          <a:lstStyle/>
          <a:p>
            <a:pPr marL="0" indent="0" algn="ctr">
              <a:lnSpc>
                <a:spcPct val="100000"/>
              </a:lnSpc>
              <a:buNone/>
            </a:pPr>
            <a:r>
              <a:rPr lang="en-US" sz="2400" b="1" kern="100" spc="-42" dirty="0">
                <a:solidFill>
                  <a:srgbClr val="10201D"/>
                </a:solidFill>
                <a:latin typeface="Sora Bold" pitchFamily="34" charset="0"/>
                <a:ea typeface="Sora Bold" pitchFamily="34" charset="-122"/>
                <a:cs typeface="Sora Bold" pitchFamily="34" charset="-120"/>
              </a:rPr>
              <a:t>2</a:t>
            </a:r>
            <a:endParaRPr lang="en-US" sz="2400" dirty="0"/>
          </a:p>
        </p:txBody>
      </p:sp>
      <p:sp>
        <p:nvSpPr>
          <p:cNvPr id="11" name="Text 9"/>
          <p:cNvSpPr/>
          <p:nvPr/>
        </p:nvSpPr>
        <p:spPr>
          <a:xfrm>
            <a:off x="2957339" y="2928342"/>
            <a:ext cx="4136723" cy="301724"/>
          </a:xfrm>
          <a:prstGeom prst="rect">
            <a:avLst/>
          </a:prstGeom>
          <a:noFill/>
          <a:ln/>
        </p:spPr>
        <p:txBody>
          <a:bodyPr wrap="none" lIns="0" tIns="0" rIns="0" bIns="0" rtlCol="0" anchor="t"/>
          <a:lstStyle/>
          <a:p>
            <a:pPr marL="0" indent="0" algn="l">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Next</a:t>
            </a:r>
            <a:endParaRPr lang="en-US" sz="1800" dirty="0"/>
          </a:p>
        </p:txBody>
      </p:sp>
      <p:sp>
        <p:nvSpPr>
          <p:cNvPr id="12" name="Text 10"/>
          <p:cNvSpPr/>
          <p:nvPr/>
        </p:nvSpPr>
        <p:spPr>
          <a:xfrm>
            <a:off x="2957339" y="3359547"/>
            <a:ext cx="4136723"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All branches, end-sem and quizzes, Classroom sync, uploads, coverage table.</a:t>
            </a:r>
            <a:endParaRPr lang="en-US" sz="1700" dirty="0"/>
          </a:p>
        </p:txBody>
      </p:sp>
      <p:sp>
        <p:nvSpPr>
          <p:cNvPr id="13" name="Shape 11"/>
          <p:cNvSpPr/>
          <p:nvPr/>
        </p:nvSpPr>
        <p:spPr>
          <a:xfrm>
            <a:off x="2849392" y="4159250"/>
            <a:ext cx="4352618" cy="14288"/>
          </a:xfrm>
          <a:prstGeom prst="roundRect">
            <a:avLst>
              <a:gd name="adj" fmla="val 49997"/>
            </a:avLst>
          </a:prstGeom>
          <a:solidFill>
            <a:srgbClr val="CBCFC0"/>
          </a:solidFill>
          <a:ln/>
        </p:spPr>
        <p:txBody>
          <a:bodyPr/>
          <a:lstStyle/>
          <a:p>
            <a:endParaRPr lang="en-IN"/>
          </a:p>
        </p:txBody>
      </p:sp>
      <p:sp>
        <p:nvSpPr>
          <p:cNvPr id="14" name="Shape 12"/>
          <p:cNvSpPr/>
          <p:nvPr/>
        </p:nvSpPr>
        <p:spPr>
          <a:xfrm>
            <a:off x="457189" y="4279106"/>
            <a:ext cx="3426335" cy="1756569"/>
          </a:xfrm>
          <a:prstGeom prst="roundRect">
            <a:avLst>
              <a:gd name="adj" fmla="val 5162"/>
            </a:avLst>
          </a:prstGeom>
          <a:solidFill>
            <a:srgbClr val="E5E9DA"/>
          </a:solidFill>
          <a:ln w="12700">
            <a:solidFill>
              <a:srgbClr val="CBCFC0"/>
            </a:solidFill>
            <a:prstDash val="solid"/>
          </a:ln>
        </p:spPr>
        <p:txBody>
          <a:bodyPr/>
          <a:lstStyle/>
          <a:p>
            <a:endParaRPr lang="en-IN"/>
          </a:p>
        </p:txBody>
      </p:sp>
      <p:sp>
        <p:nvSpPr>
          <p:cNvPr id="15" name="Text 13"/>
          <p:cNvSpPr/>
          <p:nvPr/>
        </p:nvSpPr>
        <p:spPr>
          <a:xfrm>
            <a:off x="2018555" y="4996458"/>
            <a:ext cx="303503" cy="321766"/>
          </a:xfrm>
          <a:prstGeom prst="rect">
            <a:avLst/>
          </a:prstGeom>
          <a:noFill/>
          <a:ln/>
        </p:spPr>
        <p:txBody>
          <a:bodyPr wrap="none" lIns="0" tIns="0" rIns="0" bIns="0" rtlCol="0" anchor="ctr"/>
          <a:lstStyle/>
          <a:p>
            <a:pPr marL="0" indent="0" algn="ctr">
              <a:lnSpc>
                <a:spcPct val="100000"/>
              </a:lnSpc>
              <a:buNone/>
            </a:pPr>
            <a:r>
              <a:rPr lang="en-US" sz="2400" b="1" kern="100" spc="-42" dirty="0">
                <a:solidFill>
                  <a:srgbClr val="10201D"/>
                </a:solidFill>
                <a:latin typeface="Sora Bold" pitchFamily="34" charset="0"/>
                <a:ea typeface="Sora Bold" pitchFamily="34" charset="-122"/>
                <a:cs typeface="Sora Bold" pitchFamily="34" charset="-120"/>
              </a:rPr>
              <a:t>3</a:t>
            </a:r>
            <a:endParaRPr lang="en-US" sz="2400" dirty="0"/>
          </a:p>
        </p:txBody>
      </p:sp>
      <p:sp>
        <p:nvSpPr>
          <p:cNvPr id="16" name="Text 14"/>
          <p:cNvSpPr/>
          <p:nvPr/>
        </p:nvSpPr>
        <p:spPr>
          <a:xfrm>
            <a:off x="4099418" y="4495006"/>
            <a:ext cx="2994645" cy="301724"/>
          </a:xfrm>
          <a:prstGeom prst="rect">
            <a:avLst/>
          </a:prstGeom>
          <a:noFill/>
          <a:ln/>
        </p:spPr>
        <p:txBody>
          <a:bodyPr wrap="none" lIns="0" tIns="0" rIns="0" bIns="0" rtlCol="0" anchor="t"/>
          <a:lstStyle/>
          <a:p>
            <a:pPr marL="0" indent="0" algn="l">
              <a:lnSpc>
                <a:spcPct val="110000"/>
              </a:lnSpc>
              <a:buNone/>
            </a:pPr>
            <a:r>
              <a:rPr lang="en-US" sz="1800" b="1" kern="100" spc="-36" dirty="0">
                <a:solidFill>
                  <a:srgbClr val="10201D"/>
                </a:solidFill>
                <a:latin typeface="Sora Bold" pitchFamily="34" charset="0"/>
                <a:ea typeface="Sora Bold" pitchFamily="34" charset="-122"/>
                <a:cs typeface="Sora Bold" pitchFamily="34" charset="-120"/>
              </a:rPr>
              <a:t>Later</a:t>
            </a:r>
            <a:endParaRPr lang="en-US" sz="1800" dirty="0"/>
          </a:p>
        </p:txBody>
      </p:sp>
      <p:sp>
        <p:nvSpPr>
          <p:cNvPr id="17" name="Text 15"/>
          <p:cNvSpPr/>
          <p:nvPr/>
        </p:nvSpPr>
        <p:spPr>
          <a:xfrm>
            <a:off x="4099418" y="4926211"/>
            <a:ext cx="2994645" cy="893564"/>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Other universities with pluggable timetable and syllabus inputs.</a:t>
            </a:r>
            <a:endParaRPr lang="en-US" sz="1700" dirty="0"/>
          </a:p>
        </p:txBody>
      </p:sp>
      <p:sp>
        <p:nvSpPr>
          <p:cNvPr id="18" name="Shape 16"/>
          <p:cNvSpPr/>
          <p:nvPr/>
        </p:nvSpPr>
        <p:spPr>
          <a:xfrm>
            <a:off x="7767046" y="1443633"/>
            <a:ext cx="3967460" cy="2219821"/>
          </a:xfrm>
          <a:prstGeom prst="rect">
            <a:avLst/>
          </a:prstGeom>
          <a:solidFill>
            <a:srgbClr val="FFFFFF"/>
          </a:solidFill>
          <a:ln/>
        </p:spPr>
        <p:txBody>
          <a:bodyPr/>
          <a:lstStyle/>
          <a:p>
            <a:endParaRPr lang="en-IN"/>
          </a:p>
        </p:txBody>
      </p:sp>
      <p:sp>
        <p:nvSpPr>
          <p:cNvPr id="19" name="Text 17"/>
          <p:cNvSpPr/>
          <p:nvPr/>
        </p:nvSpPr>
        <p:spPr>
          <a:xfrm>
            <a:off x="7970241" y="1631720"/>
            <a:ext cx="3561070" cy="301724"/>
          </a:xfrm>
          <a:prstGeom prst="rect">
            <a:avLst/>
          </a:prstGeom>
          <a:noFill/>
          <a:ln/>
        </p:spPr>
        <p:txBody>
          <a:bodyPr wrap="none" lIns="0" tIns="0" rIns="0" bIns="0" rtlCol="0" anchor="t"/>
          <a:lstStyle/>
          <a:p>
            <a:pPr marL="0" indent="0" algn="l">
              <a:lnSpc>
                <a:spcPct val="110000"/>
              </a:lnSpc>
              <a:buNone/>
            </a:pPr>
            <a:r>
              <a:rPr lang="en-US" sz="1800" dirty="0">
                <a:solidFill>
                  <a:srgbClr val="10201D"/>
                </a:solidFill>
                <a:latin typeface="IBM Plex Sans" pitchFamily="34" charset="0"/>
                <a:ea typeface="IBM Plex Sans" pitchFamily="34" charset="-122"/>
                <a:cs typeface="IBM Plex Sans" pitchFamily="34" charset="-120"/>
              </a:rPr>
              <a:t>Feature growth</a:t>
            </a:r>
            <a:endParaRPr lang="en-US" sz="1800" dirty="0"/>
          </a:p>
        </p:txBody>
      </p:sp>
      <p:sp>
        <p:nvSpPr>
          <p:cNvPr id="20" name="Text 18"/>
          <p:cNvSpPr/>
          <p:nvPr/>
        </p:nvSpPr>
        <p:spPr>
          <a:xfrm>
            <a:off x="7970241" y="2113784"/>
            <a:ext cx="3561070"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10201D"/>
                </a:solidFill>
                <a:latin typeface="IBM Plex Sans" pitchFamily="34" charset="0"/>
                <a:ea typeface="IBM Plex Sans" pitchFamily="34" charset="-122"/>
                <a:cs typeface="IBM Plex Sans" pitchFamily="34" charset="-120"/>
              </a:rPr>
              <a:t>Faculty dashboard, mobile app, notifications, adaptive re-planning.</a:t>
            </a:r>
            <a:endParaRPr lang="en-US" sz="1700" dirty="0"/>
          </a:p>
        </p:txBody>
      </p:sp>
      <p:sp>
        <p:nvSpPr>
          <p:cNvPr id="21" name="Shape 19"/>
          <p:cNvSpPr/>
          <p:nvPr/>
        </p:nvSpPr>
        <p:spPr>
          <a:xfrm>
            <a:off x="7767046" y="3815854"/>
            <a:ext cx="3967460" cy="2219821"/>
          </a:xfrm>
          <a:prstGeom prst="rect">
            <a:avLst/>
          </a:prstGeom>
          <a:solidFill>
            <a:srgbClr val="0A7C78"/>
          </a:solidFill>
          <a:ln/>
        </p:spPr>
        <p:txBody>
          <a:bodyPr/>
          <a:lstStyle/>
          <a:p>
            <a:endParaRPr lang="en-IN"/>
          </a:p>
        </p:txBody>
      </p:sp>
      <p:sp>
        <p:nvSpPr>
          <p:cNvPr id="22" name="Text 20"/>
          <p:cNvSpPr/>
          <p:nvPr/>
        </p:nvSpPr>
        <p:spPr>
          <a:xfrm>
            <a:off x="7970241" y="4003941"/>
            <a:ext cx="3561070"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120"/>
              </a:rPr>
              <a:t>Campus deployment</a:t>
            </a:r>
            <a:endParaRPr lang="en-US" sz="1800" dirty="0"/>
          </a:p>
        </p:txBody>
      </p:sp>
      <p:sp>
        <p:nvSpPr>
          <p:cNvPr id="23" name="Text 21"/>
          <p:cNvSpPr/>
          <p:nvPr/>
        </p:nvSpPr>
        <p:spPr>
          <a:xfrm>
            <a:off x="7970241" y="4486005"/>
            <a:ext cx="3561070" cy="595709"/>
          </a:xfrm>
          <a:prstGeom prst="rect">
            <a:avLst/>
          </a:prstGeom>
          <a:noFill/>
          <a:ln/>
        </p:spPr>
        <p:txBody>
          <a:bodyPr wrap="square" lIns="0" tIns="0" rIns="0" bIns="0" rtlCol="0" anchor="t">
            <a:normAutofit/>
          </a:bodyPr>
          <a:lstStyle/>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Self-hosted Gemma deployment on campus infrastructure.</a:t>
            </a:r>
            <a:endParaRPr lang="en-US" sz="1700" dirty="0"/>
          </a:p>
        </p:txBody>
      </p:sp>
      <p:sp>
        <p:nvSpPr>
          <p:cNvPr id="24" name="Text 22"/>
          <p:cNvSpPr/>
          <p:nvPr/>
        </p:nvSpPr>
        <p:spPr>
          <a:xfrm>
            <a:off x="457189" y="6270562"/>
            <a:ext cx="11734506" cy="184348"/>
          </a:xfrm>
          <a:prstGeom prst="rect">
            <a:avLst/>
          </a:prstGeom>
          <a:noFill/>
          <a:ln/>
        </p:spPr>
        <p:txBody>
          <a:bodyPr wrap="none" lIns="0" tIns="0" rIns="0" bIns="0" rtlCol="0" anchor="t"/>
          <a:lstStyle/>
          <a:p>
            <a:pPr marL="0" indent="0" algn="l">
              <a:lnSpc>
                <a:spcPct val="110000"/>
              </a:lnSpc>
              <a:buNone/>
            </a:pPr>
            <a:r>
              <a:rPr lang="en-US" sz="1100" dirty="0">
                <a:solidFill>
                  <a:srgbClr val="5F6D68"/>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26" name="Rectangle 25">
            <a:extLst>
              <a:ext uri="{FF2B5EF4-FFF2-40B4-BE49-F238E27FC236}">
                <a16:creationId xmlns:a16="http://schemas.microsoft.com/office/drawing/2014/main" id="{EBAC4CAF-2E60-2326-4670-9E5534505E2A}"/>
              </a:ext>
            </a:extLst>
          </p:cNvPr>
          <p:cNvSpPr/>
          <p:nvPr/>
        </p:nvSpPr>
        <p:spPr>
          <a:xfrm>
            <a:off x="11059064" y="6522689"/>
            <a:ext cx="1052423" cy="301925"/>
          </a:xfrm>
          <a:prstGeom prst="rect">
            <a:avLst/>
          </a:prstGeom>
          <a:solidFill>
            <a:srgbClr val="F2F4ED"/>
          </a:solidFill>
          <a:ln>
            <a:solidFill>
              <a:srgbClr val="F2F4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8978" y="694880"/>
            <a:ext cx="11023324"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THE INVITATION</a:t>
            </a:r>
            <a:endParaRPr lang="en-US" sz="1100" dirty="0"/>
          </a:p>
        </p:txBody>
      </p:sp>
      <p:sp>
        <p:nvSpPr>
          <p:cNvPr id="3" name="Text 1"/>
          <p:cNvSpPr/>
          <p:nvPr/>
        </p:nvSpPr>
        <p:spPr>
          <a:xfrm>
            <a:off x="888978" y="1041499"/>
            <a:ext cx="10413739" cy="1828800"/>
          </a:xfrm>
          <a:prstGeom prst="rect">
            <a:avLst/>
          </a:prstGeom>
          <a:noFill/>
          <a:ln/>
        </p:spPr>
        <p:txBody>
          <a:bodyPr wrap="square" lIns="0" tIns="0" rIns="0" bIns="0" rtlCol="0" anchor="t">
            <a:normAutofit lnSpcReduction="10000"/>
          </a:bodyPr>
          <a:lstStyle/>
          <a:p>
            <a:pPr marL="0" indent="0" algn="l">
              <a:lnSpc>
                <a:spcPct val="83000"/>
              </a:lnSpc>
              <a:buNone/>
            </a:pPr>
            <a:r>
              <a:rPr lang="en-US" sz="7200" b="1" kern="100" spc="-180" dirty="0">
                <a:solidFill>
                  <a:srgbClr val="FFFFFF"/>
                </a:solidFill>
                <a:latin typeface="Sora Bold" pitchFamily="34" charset="0"/>
                <a:ea typeface="Sora Bold" pitchFamily="34" charset="-122"/>
                <a:cs typeface="Sora Bold" pitchFamily="34" charset="-120"/>
              </a:rPr>
              <a:t>Study smarter.</a:t>
            </a:r>
            <a:endParaRPr lang="en-US" sz="7200" dirty="0"/>
          </a:p>
          <a:p>
            <a:pPr marL="0" indent="0" algn="l">
              <a:lnSpc>
                <a:spcPct val="83000"/>
              </a:lnSpc>
              <a:buNone/>
            </a:pPr>
            <a:r>
              <a:rPr lang="en-US" sz="7200" b="1" kern="100" spc="-180" dirty="0">
                <a:solidFill>
                  <a:srgbClr val="F2F4ED"/>
                </a:solidFill>
                <a:latin typeface="Sora Bold" pitchFamily="34" charset="0"/>
                <a:ea typeface="Sora Bold" pitchFamily="34" charset="-122"/>
                <a:cs typeface="Sora Bold" pitchFamily="34" charset="-120"/>
              </a:rPr>
              <a:t>Not harder.</a:t>
            </a:r>
            <a:endParaRPr lang="en-US" sz="7200" dirty="0"/>
          </a:p>
        </p:txBody>
      </p:sp>
      <p:sp>
        <p:nvSpPr>
          <p:cNvPr id="4" name="Text 2"/>
          <p:cNvSpPr/>
          <p:nvPr/>
        </p:nvSpPr>
        <p:spPr>
          <a:xfrm>
            <a:off x="888978" y="3028224"/>
            <a:ext cx="10413739" cy="301724"/>
          </a:xfrm>
          <a:prstGeom prst="rect">
            <a:avLst/>
          </a:prstGeom>
          <a:noFill/>
          <a:ln/>
        </p:spPr>
        <p:txBody>
          <a:bodyPr wrap="none" lIns="0" tIns="0" rIns="0" bIns="0" rtlCol="0" anchor="t"/>
          <a:lstStyle/>
          <a:p>
            <a:pPr marL="0" indent="0" algn="l">
              <a:lnSpc>
                <a:spcPct val="110000"/>
              </a:lnSpc>
              <a:buNone/>
            </a:pPr>
            <a:r>
              <a:rPr lang="en-US" sz="1800" dirty="0">
                <a:solidFill>
                  <a:srgbClr val="FFFFFF"/>
                </a:solidFill>
                <a:latin typeface="IBM Plex Sans" pitchFamily="34" charset="0"/>
                <a:ea typeface="IBM Plex Sans" pitchFamily="34" charset="-122"/>
                <a:cs typeface="IBM Plex Sans" pitchFamily="34" charset="-120"/>
              </a:rPr>
              <a:t>Personal timetable. Smart plan. Cited answers. Powered by Gemma 4.</a:t>
            </a:r>
            <a:endParaRPr lang="en-US" sz="1800" dirty="0"/>
          </a:p>
        </p:txBody>
      </p:sp>
      <p:sp>
        <p:nvSpPr>
          <p:cNvPr id="5" name="Shape 3"/>
          <p:cNvSpPr/>
          <p:nvPr/>
        </p:nvSpPr>
        <p:spPr>
          <a:xfrm>
            <a:off x="888978" y="3624461"/>
            <a:ext cx="5054474" cy="1771551"/>
          </a:xfrm>
          <a:prstGeom prst="rect">
            <a:avLst/>
          </a:prstGeom>
          <a:solidFill>
            <a:srgbClr val="F2F4ED"/>
          </a:solidFill>
          <a:ln/>
        </p:spPr>
        <p:txBody>
          <a:bodyPr/>
          <a:lstStyle/>
          <a:p>
            <a:endParaRPr lang="en-IN"/>
          </a:p>
        </p:txBody>
      </p:sp>
      <p:sp>
        <p:nvSpPr>
          <p:cNvPr id="6" name="Text 4"/>
          <p:cNvSpPr/>
          <p:nvPr/>
        </p:nvSpPr>
        <p:spPr>
          <a:xfrm>
            <a:off x="1117572" y="3836741"/>
            <a:ext cx="482587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000000"/>
                </a:solidFill>
                <a:latin typeface="IBM Plex Sans SemiBold" pitchFamily="34" charset="0"/>
                <a:ea typeface="IBM Plex Sans SemiBold" pitchFamily="34" charset="-122"/>
                <a:cs typeface="IBM Plex Sans SemiBold" pitchFamily="34" charset="-120"/>
              </a:rPr>
              <a:t>EXPLORE</a:t>
            </a:r>
            <a:endParaRPr lang="en-US" sz="1100" dirty="0"/>
          </a:p>
        </p:txBody>
      </p:sp>
      <p:sp>
        <p:nvSpPr>
          <p:cNvPr id="7" name="Text 5"/>
          <p:cNvSpPr/>
          <p:nvPr/>
        </p:nvSpPr>
        <p:spPr>
          <a:xfrm>
            <a:off x="1117572" y="4150023"/>
            <a:ext cx="4597285" cy="1042789"/>
          </a:xfrm>
          <a:prstGeom prst="rect">
            <a:avLst/>
          </a:prstGeom>
          <a:noFill/>
          <a:ln/>
        </p:spPr>
        <p:txBody>
          <a:bodyPr wrap="square" lIns="0" tIns="0" rIns="0" bIns="0" rtlCol="0" anchor="t">
            <a:normAutofit/>
          </a:bodyPr>
          <a:lstStyle/>
          <a:p>
            <a:pPr marL="0" indent="0" algn="l">
              <a:lnSpc>
                <a:spcPct val="115000"/>
              </a:lnSpc>
              <a:spcAft>
                <a:spcPts val="1150"/>
              </a:spcAft>
              <a:buNone/>
            </a:pPr>
            <a:r>
              <a:rPr lang="en-US" sz="1700" b="1" dirty="0">
                <a:solidFill>
                  <a:srgbClr val="000000"/>
                </a:solidFill>
                <a:latin typeface="IBM Plex Sans Bold" pitchFamily="34" charset="0"/>
                <a:ea typeface="IBM Plex Sans Bold" pitchFamily="34" charset="-122"/>
                <a:cs typeface="IBM Plex Sans Bold" pitchFamily="34" charset="-120"/>
              </a:rPr>
              <a:t>GitHub:</a:t>
            </a:r>
            <a:r>
              <a:rPr lang="en-US" sz="1700" dirty="0">
                <a:solidFill>
                  <a:srgbClr val="000000"/>
                </a:solidFill>
                <a:latin typeface="IBM Plex Sans" pitchFamily="34" charset="0"/>
                <a:ea typeface="IBM Plex Sans" pitchFamily="34" charset="-122"/>
                <a:cs typeface="IBM Plex Sans" pitchFamily="34" charset="-120"/>
              </a:rPr>
              <a:t> https://github.com/aditya-91O2/mlh-hackathon</a:t>
            </a:r>
            <a:endParaRPr lang="en-US" sz="1700" dirty="0"/>
          </a:p>
        </p:txBody>
      </p:sp>
      <p:sp>
        <p:nvSpPr>
          <p:cNvPr id="8" name="Shape 6"/>
          <p:cNvSpPr/>
          <p:nvPr/>
        </p:nvSpPr>
        <p:spPr>
          <a:xfrm>
            <a:off x="6248244" y="3624461"/>
            <a:ext cx="5054474" cy="1771551"/>
          </a:xfrm>
          <a:prstGeom prst="rect">
            <a:avLst/>
          </a:prstGeom>
          <a:solidFill>
            <a:srgbClr val="0A7C78"/>
          </a:solidFill>
          <a:ln/>
        </p:spPr>
        <p:txBody>
          <a:bodyPr/>
          <a:lstStyle/>
          <a:p>
            <a:endParaRPr lang="en-IN"/>
          </a:p>
        </p:txBody>
      </p:sp>
      <p:sp>
        <p:nvSpPr>
          <p:cNvPr id="9" name="Text 7"/>
          <p:cNvSpPr/>
          <p:nvPr/>
        </p:nvSpPr>
        <p:spPr>
          <a:xfrm>
            <a:off x="6476838" y="3836741"/>
            <a:ext cx="4825879" cy="173137"/>
          </a:xfrm>
          <a:prstGeom prst="rect">
            <a:avLst/>
          </a:prstGeom>
          <a:noFill/>
          <a:ln/>
        </p:spPr>
        <p:txBody>
          <a:bodyPr wrap="none" lIns="0" tIns="0" rIns="0" bIns="0" rtlCol="0" anchor="t"/>
          <a:lstStyle/>
          <a:p>
            <a:pPr marL="0" indent="0" algn="l">
              <a:lnSpc>
                <a:spcPct val="103000"/>
              </a:lnSpc>
              <a:buNone/>
            </a:pPr>
            <a:r>
              <a:rPr lang="en-US" sz="1100" kern="100" spc="60" dirty="0">
                <a:solidFill>
                  <a:srgbClr val="FFFFFF"/>
                </a:solidFill>
                <a:latin typeface="IBM Plex Sans SemiBold" pitchFamily="34" charset="0"/>
                <a:ea typeface="IBM Plex Sans SemiBold" pitchFamily="34" charset="-122"/>
                <a:cs typeface="IBM Plex Sans SemiBold" pitchFamily="34" charset="-120"/>
              </a:rPr>
              <a:t>BUILD</a:t>
            </a:r>
            <a:endParaRPr lang="en-US" sz="1100" dirty="0"/>
          </a:p>
        </p:txBody>
      </p:sp>
      <p:sp>
        <p:nvSpPr>
          <p:cNvPr id="10" name="Text 8"/>
          <p:cNvSpPr/>
          <p:nvPr/>
        </p:nvSpPr>
        <p:spPr>
          <a:xfrm>
            <a:off x="6476838" y="4150023"/>
            <a:ext cx="4597285" cy="1042789"/>
          </a:xfrm>
          <a:prstGeom prst="rect">
            <a:avLst/>
          </a:prstGeom>
          <a:noFill/>
          <a:ln/>
        </p:spPr>
        <p:txBody>
          <a:bodyPr wrap="square" lIns="0" tIns="0" rIns="0" bIns="0" rtlCol="0" anchor="t"/>
          <a:lstStyle/>
          <a:p>
            <a:pPr marL="0" indent="0" algn="l">
              <a:lnSpc>
                <a:spcPct val="115000"/>
              </a:lnSpc>
              <a:spcAft>
                <a:spcPts val="1150"/>
              </a:spcAft>
              <a:buNone/>
            </a:pPr>
            <a:r>
              <a:rPr lang="en-US" sz="1700" b="1" dirty="0">
                <a:solidFill>
                  <a:srgbClr val="FFFFFF"/>
                </a:solidFill>
                <a:latin typeface="IBM Plex Sans Bold" pitchFamily="34" charset="0"/>
                <a:ea typeface="IBM Plex Sans Bold" pitchFamily="34" charset="-122"/>
                <a:cs typeface="IBM Plex Sans Bold" pitchFamily="34" charset="-120"/>
              </a:rPr>
              <a:t>Team:</a:t>
            </a:r>
            <a:r>
              <a:rPr lang="en-US" sz="1700" dirty="0">
                <a:solidFill>
                  <a:srgbClr val="FFFFFF"/>
                </a:solidFill>
                <a:latin typeface="IBM Plex Sans" pitchFamily="34" charset="0"/>
                <a:ea typeface="IBM Plex Sans" pitchFamily="34" charset="-122"/>
                <a:cs typeface="IBM Plex Sans" pitchFamily="34" charset="-120"/>
              </a:rPr>
              <a:t> Kanad - Shlok - Aditya - Rahul - Ishwar</a:t>
            </a:r>
            <a:endParaRPr lang="en-US" sz="1700" dirty="0"/>
          </a:p>
          <a:p>
            <a:pPr marL="0" indent="0" algn="l">
              <a:lnSpc>
                <a:spcPct val="115000"/>
              </a:lnSpc>
              <a:buNone/>
            </a:pPr>
            <a:r>
              <a:rPr lang="en-US" sz="1700" dirty="0">
                <a:solidFill>
                  <a:srgbClr val="FFFFFF"/>
                </a:solidFill>
                <a:latin typeface="IBM Plex Sans" pitchFamily="34" charset="0"/>
                <a:ea typeface="IBM Plex Sans" pitchFamily="34" charset="-122"/>
                <a:cs typeface="IBM Plex Sans" pitchFamily="34" charset="-120"/>
              </a:rPr>
              <a:t>MIT License · README mentions Gemma 4 · SKILL.md included</a:t>
            </a:r>
            <a:endParaRPr lang="en-US" sz="1700" dirty="0"/>
          </a:p>
        </p:txBody>
      </p:sp>
      <p:sp>
        <p:nvSpPr>
          <p:cNvPr id="11" name="Text 9"/>
          <p:cNvSpPr/>
          <p:nvPr/>
        </p:nvSpPr>
        <p:spPr>
          <a:xfrm>
            <a:off x="888978" y="6197338"/>
            <a:ext cx="11023324" cy="184348"/>
          </a:xfrm>
          <a:prstGeom prst="rect">
            <a:avLst/>
          </a:prstGeom>
          <a:noFill/>
          <a:ln/>
        </p:spPr>
        <p:txBody>
          <a:bodyPr wrap="none" lIns="0" tIns="0" rIns="0" bIns="0" rtlCol="0" anchor="t"/>
          <a:lstStyle/>
          <a:p>
            <a:pPr marL="0" indent="0" algn="l">
              <a:lnSpc>
                <a:spcPct val="110000"/>
              </a:lnSpc>
              <a:buNone/>
            </a:pPr>
            <a:r>
              <a:rPr lang="en-US" sz="1100" dirty="0">
                <a:solidFill>
                  <a:srgbClr val="FFFFFF"/>
                </a:solidFill>
                <a:latin typeface="IBM Plex Sans" pitchFamily="34" charset="0"/>
                <a:ea typeface="IBM Plex Sans" pitchFamily="34" charset="-122"/>
                <a:cs typeface="IBM Plex Sans" pitchFamily="34" charset="-120"/>
              </a:rPr>
              <a:t>MentalPlanner · Built with Gemma 4 | Open Source (MIT)</a:t>
            </a:r>
            <a:endParaRPr lang="en-US" sz="1100" dirty="0"/>
          </a:p>
        </p:txBody>
      </p:sp>
      <p:sp>
        <p:nvSpPr>
          <p:cNvPr id="13" name="Rectangle 12">
            <a:extLst>
              <a:ext uri="{FF2B5EF4-FFF2-40B4-BE49-F238E27FC236}">
                <a16:creationId xmlns:a16="http://schemas.microsoft.com/office/drawing/2014/main" id="{DD2E6643-5183-225B-99E8-A8B0E1AE0051}"/>
              </a:ext>
            </a:extLst>
          </p:cNvPr>
          <p:cNvSpPr/>
          <p:nvPr/>
        </p:nvSpPr>
        <p:spPr>
          <a:xfrm>
            <a:off x="11059064" y="6522689"/>
            <a:ext cx="1052423" cy="301925"/>
          </a:xfrm>
          <a:prstGeom prst="rect">
            <a:avLst/>
          </a:prstGeom>
          <a:solidFill>
            <a:srgbClr val="083C35"/>
          </a:solidFill>
          <a:ln>
            <a:solidFill>
              <a:srgbClr val="083C3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1474</Words>
  <Application>Microsoft Office PowerPoint</Application>
  <PresentationFormat>Widescreen</PresentationFormat>
  <Paragraphs>176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IBM Plex Sans SemiBold</vt:lpstr>
      <vt:lpstr>Sora Bold</vt:lpstr>
      <vt:lpstr>Arial</vt:lpstr>
      <vt:lpstr>IBM Plex Sans</vt:lpstr>
      <vt:lpstr>IBM Plex Sans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ishu</dc:creator>
  <cp:lastModifiedBy>ishu</cp:lastModifiedBy>
  <cp:revision>5</cp:revision>
  <dcterms:created xsi:type="dcterms:W3CDTF">2026-10-10T09:45:52Z</dcterms:created>
  <dcterms:modified xsi:type="dcterms:W3CDTF">2026-10-10T11:13:57Z</dcterms:modified>
</cp:coreProperties>
</file>